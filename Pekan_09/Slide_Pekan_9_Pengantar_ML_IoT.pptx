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85360FE-17A3-45CA-ACA2-92006B86AFE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43000" y="685800"/>
            <a:ext cx="4571640" cy="3428640"/>
          </a:xfrm>
          <a:prstGeom prst="rect">
            <a:avLst/>
          </a:prstGeom>
          <a:ln w="0">
            <a:noFill/>
          </a:ln>
        </p:spPr>
      </p:sp>
      <p:sp>
        <p:nvSpPr>
          <p:cNvPr id="2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Selamat datang kembali di paruh kedua semester pasca-UTS. Pada Pekan 9 ini kita bertransisi dari pra-pemrosesan statistik menuju kecerdasan buatan (Machine Learning) untuk data sensor IoT, sekaligus meluncurkan Proyek Akhir (Tugas Besar).</a:t>
            </a:r>
            <a:endParaRPr lang="en-US" sz="2000" b="0" u="none" strike="noStrike">
              <a:solidFill>
                <a:srgbClr val="000000"/>
              </a:solidFill>
              <a:effectLst/>
              <a:uFillTx/>
              <a:latin typeface="Arial"/>
            </a:endParaRPr>
          </a:p>
        </p:txBody>
      </p:sp>
      <p:sp>
        <p:nvSpPr>
          <p:cNvPr id="282"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F77B9E4-B8DF-40AE-AEBC-AA57A71D00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143000" y="685800"/>
            <a:ext cx="4571640" cy="3428640"/>
          </a:xfrm>
          <a:prstGeom prst="rect">
            <a:avLst/>
          </a:prstGeom>
          <a:ln w="0">
            <a:noFill/>
          </a:ln>
        </p:spPr>
      </p:sp>
      <p:sp>
        <p:nvSpPr>
          <p:cNvPr id="2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Tekankan kepada mahasiswa bahwa ML bukan pengganti Data Cleaning, melainkan tahap lanjutan setelah data bersih.</a:t>
            </a:r>
            <a:endParaRPr lang="en-US" sz="2000" b="0" u="none" strike="noStrike">
              <a:solidFill>
                <a:srgbClr val="000000"/>
              </a:solidFill>
              <a:effectLst/>
              <a:uFillTx/>
              <a:latin typeface="Arial"/>
            </a:endParaRPr>
          </a:p>
        </p:txBody>
      </p:sp>
      <p:sp>
        <p:nvSpPr>
          <p:cNvPr id="285"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6B97A50-AA93-44AC-9427-0AD763418F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2705201-E0BB-447A-8E04-BFC489DD2C5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C0BB72A-0717-4B48-82DB-644F99AC302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9E11EEB-9F1C-47EB-9416-850F14F6F2D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0F2672-00E2-4A99-832C-BB0C673D205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6C1FF79-2890-454D-B3D9-DFE8DBDCE39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F5089D9-AA27-49FC-B60B-D18451D6A39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57A68CC-4C80-4CFF-BB99-44F0C84479E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9B685A1-4627-4583-8495-71BF2D58421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C2A14CE-F345-400D-B4AD-2DF4E54A1BB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7F46F7D-56D7-44B7-807C-1B11CBDF814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110B917-E029-42E9-9F86-29CE93C30A3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Rectangle 2"/>
          <p:cNvSpPr/>
          <p:nvPr/>
        </p:nvSpPr>
        <p:spPr>
          <a:xfrm>
            <a:off x="0" y="0"/>
            <a:ext cx="12191400" cy="1641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Rectangle 3"/>
          <p:cNvSpPr/>
          <p:nvPr/>
        </p:nvSpPr>
        <p:spPr>
          <a:xfrm>
            <a:off x="731520" y="1508760"/>
            <a:ext cx="136800" cy="3840120"/>
          </a:xfrm>
          <a:prstGeom prst="rect">
            <a:avLst/>
          </a:prstGeom>
          <a:solidFill>
            <a:srgbClr val="38BDF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 name="TextBox 4"/>
          <p:cNvSpPr/>
          <p:nvPr/>
        </p:nvSpPr>
        <p:spPr>
          <a:xfrm>
            <a:off x="1097280" y="1325880"/>
            <a:ext cx="10332360" cy="1934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endParaRPr lang="en-US" sz="1300" b="0" u="none" strike="noStrike">
              <a:solidFill>
                <a:srgbClr val="000000"/>
              </a:solidFill>
              <a:effectLst/>
              <a:uFillTx/>
              <a:latin typeface="Arial"/>
            </a:endParaRPr>
          </a:p>
          <a:p>
            <a:pPr defTabSz="457200">
              <a:lnSpc>
                <a:spcPct val="100000"/>
              </a:lnSpc>
              <a:spcAft>
                <a:spcPts val="1599"/>
              </a:spcAft>
            </a:pPr>
            <a:r>
              <a:rPr lang="en-US" sz="3400" b="1" u="none" strike="noStrike">
                <a:solidFill>
                  <a:srgbClr val="FFFFFF"/>
                </a:solidFill>
                <a:effectLst/>
                <a:uFillTx/>
                <a:latin typeface="Calibri"/>
              </a:rPr>
              <a:t>Paradigma Machine Learning untuk IoT,</a:t>
            </a:r>
            <a:br>
              <a:rPr sz="3400"/>
            </a:br>
            <a:r>
              <a:rPr lang="en-US" sz="3400" b="1" u="none" strike="noStrike">
                <a:solidFill>
                  <a:srgbClr val="FFFFFF"/>
                </a:solidFill>
                <a:effectLst/>
                <a:uFillTx/>
                <a:latin typeface="Calibri"/>
              </a:rPr>
              <a:t>Time-Series Forecasting, &amp; Deteksi Anomali</a:t>
            </a:r>
            <a:endParaRPr lang="en-US" sz="3400" b="0" u="none" strike="noStrike">
              <a:solidFill>
                <a:srgbClr val="000000"/>
              </a:solidFill>
              <a:effectLst/>
              <a:uFillTx/>
              <a:latin typeface="Arial"/>
            </a:endParaRPr>
          </a:p>
          <a:p>
            <a:pPr defTabSz="457200">
              <a:lnSpc>
                <a:spcPct val="100000"/>
              </a:lnSpc>
              <a:spcAft>
                <a:spcPts val="2401"/>
              </a:spcAft>
            </a:pP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RELOAD &amp; JEMBATAN MATERI PERKULIAHAN</a:t>
            </a:r>
            <a:endParaRPr lang="en-US" sz="1100" b="0" u="none" strike="noStrike">
              <a:solidFill>
                <a:srgbClr val="000000"/>
              </a:solidFill>
              <a:effectLst/>
              <a:uFillTx/>
              <a:latin typeface="Arial"/>
            </a:endParaRPr>
          </a:p>
        </p:txBody>
      </p:sp>
      <p:sp>
        <p:nvSpPr>
          <p:cNvPr id="72"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Reload Pekan 1–7: Dari Data Bersih Menuju Kecerdasan Prediktif</a:t>
            </a:r>
            <a:endParaRPr lang="en-US" sz="2200" b="0" u="none" strike="noStrike">
              <a:solidFill>
                <a:srgbClr val="000000"/>
              </a:solidFill>
              <a:effectLst/>
              <a:uFillTx/>
              <a:latin typeface="Arial"/>
            </a:endParaRPr>
          </a:p>
        </p:txBody>
      </p:sp>
      <p:sp>
        <p:nvSpPr>
          <p:cNvPr id="73"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Jembatan Konseptual: Menghubungkan Pra-Pemrosesan Statistik Menuju Machine Learning IoT</a:t>
            </a:r>
            <a:endParaRPr lang="en-US" sz="1300" b="0" u="none" strike="noStrike">
              <a:solidFill>
                <a:srgbClr val="000000"/>
              </a:solidFill>
              <a:effectLst/>
              <a:uFillTx/>
              <a:latin typeface="Arial"/>
            </a:endParaRPr>
          </a:p>
        </p:txBody>
      </p:sp>
      <p:sp>
        <p:nvSpPr>
          <p:cNvPr id="74"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75"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76"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2</a:t>
            </a:r>
            <a:endParaRPr lang="en-US" sz="1000" b="0" u="none" strike="noStrike">
              <a:solidFill>
                <a:srgbClr val="000000"/>
              </a:solidFill>
              <a:effectLst/>
              <a:uFillTx/>
              <a:latin typeface="Arial"/>
            </a:endParaRPr>
          </a:p>
        </p:txBody>
      </p:sp>
      <p:sp>
        <p:nvSpPr>
          <p:cNvPr id="77"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KILAS BALIK PARUH PERTAMA (PEKAN 1 - 7)</a:t>
            </a:r>
            <a:endParaRPr lang="en-US" sz="1200" b="0" u="none" strike="noStrike">
              <a:solidFill>
                <a:srgbClr val="FFFFFF"/>
              </a:solidFill>
              <a:effectLst/>
              <a:uFillTx/>
              <a:latin typeface="Arial"/>
            </a:endParaRPr>
          </a:p>
        </p:txBody>
      </p:sp>
      <p:sp>
        <p:nvSpPr>
          <p:cNvPr id="79"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Akuisisi &amp; Arsitektur (Pekan 1-2): </a:t>
            </a:r>
            <a:r>
              <a:rPr lang="en-US" sz="1150" b="0" u="none" strike="noStrike">
                <a:solidFill>
                  <a:srgbClr val="0F172A"/>
                </a:solidFill>
                <a:effectLst/>
                <a:uFillTx/>
                <a:latin typeface="Calibri"/>
              </a:rPr>
              <a:t>Mengalirkan telemetri sensor via protokol MQTT/AMQP pada hierarki komputasi Edge, Fog, dan Cloud.</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Eksplorasi &amp; Dekomposisi (Pekan 3-4): </a:t>
            </a:r>
            <a:r>
              <a:rPr lang="en-US" sz="1150" b="0" u="none" strike="noStrike">
                <a:solidFill>
                  <a:srgbClr val="0F172A"/>
                </a:solidFill>
                <a:effectLst/>
                <a:uFillTx/>
                <a:latin typeface="Calibri"/>
              </a:rPr>
              <a:t>Membedah komponen Trend, Seasonality, dan Noise serta mengukur korelasi Pearson (r) antar-sensor.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Pra-pemrosesan &amp; Cleaning (Pekan 5-6): </a:t>
            </a:r>
            <a:r>
              <a:rPr lang="en-US" sz="1150" b="0" u="none" strike="noStrike">
                <a:solidFill>
                  <a:srgbClr val="0F172A"/>
                </a:solidFill>
                <a:effectLst/>
                <a:uFillTx/>
                <a:latin typeface="Calibri"/>
              </a:rPr>
              <a:t>Menambal nilai kosong (MCAR, MAR, MNAR) dengan interpolasi, menghaluskan noise (SMA/EMA), dan membuang outlier (Z-Score &amp; IQR).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Komputasi Hemat Memori (Pekan 7): </a:t>
            </a:r>
            <a:r>
              <a:rPr lang="en-US" sz="1150" b="0" u="none" strike="noStrike">
                <a:solidFill>
                  <a:srgbClr val="0F172A"/>
                </a:solidFill>
                <a:effectLst/>
                <a:uFillTx/>
                <a:latin typeface="Calibri"/>
              </a:rPr>
              <a:t>Memproses aliran data di perangkat terbatas menggunakan Circular Buffer (deque) dan TinyML.</a:t>
            </a:r>
            <a:endParaRPr lang="en-US" sz="1150" b="0" u="none" strike="noStrike">
              <a:solidFill>
                <a:srgbClr val="000000"/>
              </a:solidFill>
              <a:effectLst/>
              <a:uFillTx/>
              <a:latin typeface="Arial"/>
            </a:endParaRPr>
          </a:p>
        </p:txBody>
      </p:sp>
      <p:sp>
        <p:nvSpPr>
          <p:cNvPr id="80" name="Rectangle 10"/>
          <p:cNvSpPr/>
          <p:nvPr/>
        </p:nvSpPr>
        <p:spPr>
          <a:xfrm>
            <a:off x="6254640" y="1517760"/>
            <a:ext cx="5202720" cy="385848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MENGAPA KITA BUTUH MACHINE LEARNING HARI INI?</a:t>
            </a:r>
            <a:endParaRPr lang="en-US" sz="1200" b="0" u="none" strike="noStrike">
              <a:solidFill>
                <a:srgbClr val="FFFFFF"/>
              </a:solidFill>
              <a:effectLst/>
              <a:uFillTx/>
              <a:latin typeface="Arial"/>
            </a:endParaRPr>
          </a:p>
        </p:txBody>
      </p:sp>
      <p:sp>
        <p:nvSpPr>
          <p:cNvPr id="82"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Batasan Statistik Klasik: </a:t>
            </a:r>
            <a:r>
              <a:rPr lang="en-US" sz="1150" b="0" u="none" strike="noStrike">
                <a:solidFill>
                  <a:srgbClr val="0F172A"/>
                </a:solidFill>
                <a:effectLst/>
                <a:uFillTx/>
                <a:latin typeface="Calibri"/>
              </a:rPr>
              <a:t>Metode Z-Score, IQR, dan Moving Average hanya mengevaluasi apa yang SUDAH terjadi (deskriptif) dan memeriksa tiap sensor secara terpisah (univariat).</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Kebutuhan Peramalan (Forecasting): </a:t>
            </a:r>
            <a:r>
              <a:rPr lang="en-US" sz="1150" b="0" u="none" strike="noStrike">
                <a:solidFill>
                  <a:srgbClr val="0F172A"/>
                </a:solidFill>
                <a:effectLst/>
                <a:uFillTx/>
                <a:latin typeface="Calibri"/>
              </a:rPr>
              <a:t>Petani tidak cukup tahu tanaman layu hari ini; petani butuh meramal berapa kelembaban tanah 6 JAM KE DEPAN sebelum tanaman stres air.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Deteksi Anomali Multivariat: </a:t>
            </a:r>
            <a:r>
              <a:rPr lang="en-US" sz="1150" b="0" u="none" strike="noStrike">
                <a:solidFill>
                  <a:srgbClr val="0F172A"/>
                </a:solidFill>
                <a:effectLst/>
                <a:uFillTx/>
                <a:latin typeface="Calibri"/>
              </a:rPr>
              <a:t>Bagaimana menangkap bahaya ketika 10 sensor terlihat normal secara individu, tetapi interaksi gabungannya melanggar pola normal?</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Misi Pekan 9: </a:t>
            </a:r>
            <a:r>
              <a:rPr lang="en-US" sz="1150" b="0" u="none" strike="noStrike">
                <a:solidFill>
                  <a:srgbClr val="0F172A"/>
                </a:solidFill>
                <a:effectLst/>
                <a:uFillTx/>
                <a:latin typeface="Calibri"/>
              </a:rPr>
              <a:t>Memanfaatkan data yang telah bersih dari Pekan 1-7 untuk melatih model Machine Learning prediktif dan detektor anomali cerdas.</a:t>
            </a:r>
            <a:endParaRPr lang="en-US" sz="1150" b="0" u="none" strike="noStrike">
              <a:solidFill>
                <a:srgbClr val="000000"/>
              </a:solidFill>
              <a:effectLst/>
              <a:uFillTx/>
              <a:latin typeface="Arial"/>
            </a:endParaRPr>
          </a:p>
        </p:txBody>
      </p:sp>
      <p:sp>
        <p:nvSpPr>
          <p:cNvPr id="83"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KATA KUNCI PEMBELAJARAN TERPADU: </a:t>
            </a:r>
            <a:r>
              <a:rPr lang="en-US" sz="1150" b="0" u="none" strike="noStrike">
                <a:solidFill>
                  <a:srgbClr val="0F172A"/>
                </a:solidFill>
                <a:effectLst/>
                <a:uFillTx/>
                <a:latin typeface="Calibri"/>
              </a:rPr>
              <a:t>Berlaku hukum Garbage In, Garbage Out (GIGO): Model Machine Learning Pekan 9-10 hanya akan akurat apabila disuapi data yang telah melewati tahap pembersihan Pekan 5-6!</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PETA KURIKULUM &amp; ALOKASI WAKTU</a:t>
            </a:r>
            <a:endParaRPr lang="en-US" sz="1100" b="0" u="none" strike="noStrike">
              <a:solidFill>
                <a:srgbClr val="000000"/>
              </a:solidFill>
              <a:effectLst/>
              <a:uFillTx/>
              <a:latin typeface="Arial"/>
            </a:endParaRPr>
          </a:p>
        </p:txBody>
      </p:sp>
      <p:sp>
        <p:nvSpPr>
          <p:cNvPr id="86"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Rencana Pembelajaran Pekan 9 &amp; Capaian Sub-CPMK (100 Menit)</a:t>
            </a:r>
            <a:endParaRPr lang="en-US" sz="2200" b="0" u="none" strike="noStrike">
              <a:solidFill>
                <a:srgbClr val="000000"/>
              </a:solidFill>
              <a:effectLst/>
              <a:uFillTx/>
              <a:latin typeface="Arial"/>
            </a:endParaRPr>
          </a:p>
        </p:txBody>
      </p:sp>
      <p:sp>
        <p:nvSpPr>
          <p:cNvPr id="87"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Alur sistematis dari pergeseran paradigma pemrograman hingga peluncuran Proyek Akhir (Tugas Besar).</a:t>
            </a:r>
            <a:endParaRPr lang="en-US" sz="1300" b="0" u="none" strike="noStrike">
              <a:solidFill>
                <a:srgbClr val="000000"/>
              </a:solidFill>
              <a:effectLst/>
              <a:uFillTx/>
              <a:latin typeface="Arial"/>
            </a:endParaRPr>
          </a:p>
        </p:txBody>
      </p:sp>
      <p:sp>
        <p:nvSpPr>
          <p:cNvPr id="88"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89"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90"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3</a:t>
            </a:r>
            <a:endParaRPr lang="en-US" sz="1000" b="0" u="none" strike="noStrike">
              <a:solidFill>
                <a:srgbClr val="000000"/>
              </a:solidFill>
              <a:effectLst/>
              <a:uFillTx/>
              <a:latin typeface="Arial"/>
            </a:endParaRPr>
          </a:p>
        </p:txBody>
      </p:sp>
      <p:sp>
        <p:nvSpPr>
          <p:cNvPr id="91"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RUNDOWN SESI PERKULIAHAN (2 X 50 MENIT)</a:t>
            </a:r>
            <a:endParaRPr lang="en-US" sz="1200" b="0" u="none" strike="noStrike">
              <a:solidFill>
                <a:srgbClr val="FFFFFF"/>
              </a:solidFill>
              <a:effectLst/>
              <a:uFillTx/>
              <a:latin typeface="Arial"/>
            </a:endParaRPr>
          </a:p>
        </p:txBody>
      </p:sp>
      <p:sp>
        <p:nvSpPr>
          <p:cNvPr id="93"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Sesi 1 (Menit 00 - 25): </a:t>
            </a:r>
            <a:r>
              <a:rPr lang="en-US" sz="1150" b="0" u="none" strike="noStrike">
                <a:solidFill>
                  <a:srgbClr val="0F172A"/>
                </a:solidFill>
                <a:effectLst/>
                <a:uFillTx/>
                <a:latin typeface="Calibri"/>
              </a:rPr>
              <a:t>Pergeseran Paradigma: Keterbatasan sistem pakar berbasis aturan (Rule-Based IF-ELSE) vs Machine Learning di pertanian presisi.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Sesi 2 (Menit 25 - 50): </a:t>
            </a:r>
            <a:r>
              <a:rPr lang="en-US" sz="1150" b="0" u="none" strike="noStrike">
                <a:solidFill>
                  <a:srgbClr val="0F172A"/>
                </a:solidFill>
                <a:effectLst/>
                <a:uFillTx/>
                <a:latin typeface="Calibri"/>
              </a:rPr>
              <a:t>Formulasi Masalah ML IoT (Regresi, Klasifikasi, Unsupervised) &amp; konsep Lag Features pada Time-Series Forecasting.</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Sesi 3 (Menit 50 - 80): </a:t>
            </a:r>
            <a:r>
              <a:rPr lang="en-US" sz="1150" b="0" u="none" strike="noStrike">
                <a:solidFill>
                  <a:srgbClr val="0F172A"/>
                </a:solidFill>
                <a:effectLst/>
                <a:uFillTx/>
                <a:latin typeface="Calibri"/>
              </a:rPr>
              <a:t>Aturan Train-Test Split (shuffle=False), metrik evaluasi (MAE, MSE, RMSE, R²), dan cara kerja Isolation Forest.</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Sesi 4 (Menit 80 - 100): </a:t>
            </a:r>
            <a:r>
              <a:rPr lang="en-US" sz="1150" b="0" u="none" strike="noStrike">
                <a:solidFill>
                  <a:srgbClr val="0F172A"/>
                </a:solidFill>
                <a:effectLst/>
                <a:uFillTx/>
                <a:latin typeface="Calibri"/>
              </a:rPr>
              <a:t>Diagnosa degradasi model (Sensor Drift vs Concept Drift) &amp; Kick-Off Proyek Akhir (RTM Tugas Besar).</a:t>
            </a:r>
            <a:endParaRPr lang="en-US" sz="1150" b="0" u="none" strike="noStrike">
              <a:solidFill>
                <a:srgbClr val="000000"/>
              </a:solidFill>
              <a:effectLst/>
              <a:uFillTx/>
              <a:latin typeface="Arial"/>
            </a:endParaRPr>
          </a:p>
        </p:txBody>
      </p:sp>
      <p:sp>
        <p:nvSpPr>
          <p:cNvPr id="94"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CAPAIAN PEMBELAJARAN KHUSUS (SUB-CPMK 9)</a:t>
            </a:r>
            <a:endParaRPr lang="en-US" sz="1200" b="0" u="none" strike="noStrike">
              <a:solidFill>
                <a:srgbClr val="FFFFFF"/>
              </a:solidFill>
              <a:effectLst/>
              <a:uFillTx/>
              <a:latin typeface="Arial"/>
            </a:endParaRPr>
          </a:p>
        </p:txBody>
      </p:sp>
      <p:sp>
        <p:nvSpPr>
          <p:cNvPr id="96"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1. Analisis Paradigma: </a:t>
            </a:r>
            <a:r>
              <a:rPr lang="en-US" sz="1150" b="0" u="none" strike="noStrike">
                <a:solidFill>
                  <a:srgbClr val="0F172A"/>
                </a:solidFill>
                <a:effectLst/>
                <a:uFillTx/>
                <a:latin typeface="Calibri"/>
              </a:rPr>
              <a:t>Mampu menjelaskan alasan teknis mengapa aturan IF-ELSE kaku gagal menangani interaksi belasan variabel iklim mikro.</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2. Problem Formulation: </a:t>
            </a:r>
            <a:r>
              <a:rPr lang="en-US" sz="1150" b="0" u="none" strike="noStrike">
                <a:solidFill>
                  <a:srgbClr val="0F172A"/>
                </a:solidFill>
                <a:effectLst/>
                <a:uFillTx/>
                <a:latin typeface="Calibri"/>
              </a:rPr>
              <a:t>Mampu memetakan studi kasus Smart Agriculture ke algoritma Regresi, Klasifikasi, atau Unsupervised Learning.</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3. Metodologi Forecasting: </a:t>
            </a:r>
            <a:r>
              <a:rPr lang="en-US" sz="1150" b="0" u="none" strike="noStrike">
                <a:solidFill>
                  <a:srgbClr val="0F172A"/>
                </a:solidFill>
                <a:effectLst/>
                <a:uFillTx/>
                <a:latin typeface="Calibri"/>
              </a:rPr>
              <a:t>Menguasai konsep Autoregression (Lagging), pencegahan Data Leakage, dan perhitungan metrik galat prediksi.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4. Kick-Off Proyek Akhir: </a:t>
            </a:r>
            <a:r>
              <a:rPr lang="en-US" sz="1150" b="0" u="none" strike="noStrike">
                <a:solidFill>
                  <a:srgbClr val="0F172A"/>
                </a:solidFill>
                <a:effectLst/>
                <a:uFillTx/>
                <a:latin typeface="Calibri"/>
              </a:rPr>
              <a:t>Membentuk kelompok Tugas Besar dan merancang topik arsitektur pipeline analitik 5 lapis.</a:t>
            </a:r>
            <a:endParaRPr lang="en-US" sz="1150" b="0" u="none" strike="noStrike">
              <a:solidFill>
                <a:srgbClr val="000000"/>
              </a:solidFill>
              <a:effectLst/>
              <a:uFillTx/>
              <a:latin typeface="Arial"/>
            </a:endParaRPr>
          </a:p>
        </p:txBody>
      </p:sp>
      <p:sp>
        <p:nvSpPr>
          <p:cNvPr id="97" name="Rectangle 13"/>
          <p:cNvSpPr/>
          <p:nvPr/>
        </p:nvSpPr>
        <p:spPr>
          <a:xfrm>
            <a:off x="731520" y="5523120"/>
            <a:ext cx="10725480" cy="69444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8"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FOKUS KOMPETENSI ENGINEER: </a:t>
            </a:r>
            <a:r>
              <a:rPr lang="en-US" sz="1150" b="0" u="none" strike="noStrike">
                <a:solidFill>
                  <a:srgbClr val="0F172A"/>
                </a:solidFill>
                <a:effectLst/>
                <a:uFillTx/>
                <a:latin typeface="Calibri"/>
              </a:rPr>
              <a:t>Seorang IoT Data Engineer tidak sekadar memanggil fungsi .fit() di Python, melainkan memahami formulasi matematis dan batasan fisik dari model yang dibangun.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MOTIVASI INDUSTRI SMART AGRICULTURE</a:t>
            </a:r>
            <a:endParaRPr lang="en-US" sz="1100" b="0" u="none" strike="noStrike">
              <a:solidFill>
                <a:srgbClr val="000000"/>
              </a:solidFill>
              <a:effectLst/>
              <a:uFillTx/>
              <a:latin typeface="Arial"/>
            </a:endParaRPr>
          </a:p>
        </p:txBody>
      </p:sp>
      <p:sp>
        <p:nvSpPr>
          <p:cNvPr id="100"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Mengapa Aturan IF-ELSE Tradisional Runtuh di Pertanian Presisi?</a:t>
            </a:r>
            <a:endParaRPr lang="en-US" sz="2200" b="0" u="none" strike="noStrike">
              <a:solidFill>
                <a:srgbClr val="000000"/>
              </a:solidFill>
              <a:effectLst/>
              <a:uFillTx/>
              <a:latin typeface="Arial"/>
            </a:endParaRPr>
          </a:p>
        </p:txBody>
      </p:sp>
      <p:sp>
        <p:nvSpPr>
          <p:cNvPr id="101"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Menganalisis kegagalan logika kondisional terprogram (Hard-Coded Rules) pada lingkungan terbuka.</a:t>
            </a:r>
            <a:endParaRPr lang="en-US" sz="1300" b="0" u="none" strike="noStrike">
              <a:solidFill>
                <a:srgbClr val="000000"/>
              </a:solidFill>
              <a:effectLst/>
              <a:uFillTx/>
              <a:latin typeface="Arial"/>
            </a:endParaRPr>
          </a:p>
        </p:txBody>
      </p:sp>
      <p:sp>
        <p:nvSpPr>
          <p:cNvPr id="102"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3"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04"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4</a:t>
            </a:r>
            <a:endParaRPr lang="en-US" sz="1000" b="0" u="none" strike="noStrike">
              <a:solidFill>
                <a:srgbClr val="000000"/>
              </a:solidFill>
              <a:effectLst/>
              <a:uFillTx/>
              <a:latin typeface="Arial"/>
            </a:endParaRPr>
          </a:p>
        </p:txBody>
      </p:sp>
      <p:sp>
        <p:nvSpPr>
          <p:cNvPr id="105"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6"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CARA KERJA SISTEM PAKAR / RULE-BASED (IF-ELSE)</a:t>
            </a:r>
            <a:endParaRPr lang="en-US" sz="1200" b="0" u="none" strike="noStrike">
              <a:solidFill>
                <a:srgbClr val="FFFFFF"/>
              </a:solidFill>
              <a:effectLst/>
              <a:uFillTx/>
              <a:latin typeface="Arial"/>
            </a:endParaRPr>
          </a:p>
        </p:txBody>
      </p:sp>
      <p:sp>
        <p:nvSpPr>
          <p:cNvPr id="107"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Aturan Diketik Eksplisit oleh Manusia: </a:t>
            </a:r>
            <a:r>
              <a:rPr lang="en-US" sz="1150" b="0" u="none" strike="noStrike">
                <a:solidFill>
                  <a:srgbClr val="0F172A"/>
                </a:solidFill>
                <a:effectLst/>
                <a:uFillTx/>
                <a:latin typeface="Calibri"/>
              </a:rPr>
              <a:t>Programmer menetapkan batas ambang manual di dalam kode: IF suhu &gt; 32.0 AND tanah &lt; 40.0 THEN nyalakan_pompa().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Kapan IF-ELSE Masih Efektif?: </a:t>
            </a:r>
            <a:r>
              <a:rPr lang="en-US" sz="1150" b="0" u="none" strike="noStrike">
                <a:solidFill>
                  <a:srgbClr val="0F172A"/>
                </a:solidFill>
                <a:effectLst/>
                <a:uFillTx/>
                <a:latin typeface="Calibri"/>
              </a:rPr>
              <a:t>Sangat baik untuk kendali pengaman tunggal sederhana (misal: matikan katup jika tekanan pipa &gt; 8 bar di Edge).</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Asumsi Lingkungan Statis: </a:t>
            </a:r>
            <a:r>
              <a:rPr lang="en-US" sz="1150" b="0" u="none" strike="noStrike">
                <a:solidFill>
                  <a:srgbClr val="0F172A"/>
                </a:solidFill>
                <a:effectLst/>
                <a:uFillTx/>
                <a:latin typeface="Calibri"/>
              </a:rPr>
              <a:t>Menganggap hubungan antar-variabel bersifat linier sederhana dan batas ambang tidak pernah berubah sepanjang musim.</a:t>
            </a:r>
            <a:endParaRPr lang="en-US" sz="1150" b="0" u="none" strike="noStrike">
              <a:solidFill>
                <a:srgbClr val="000000"/>
              </a:solidFill>
              <a:effectLst/>
              <a:uFillTx/>
              <a:latin typeface="Arial"/>
            </a:endParaRPr>
          </a:p>
        </p:txBody>
      </p:sp>
      <p:sp>
        <p:nvSpPr>
          <p:cNvPr id="108"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TIGA PENYEBAB RUNTUHNYA IF-ELSE DI LAPANGAN</a:t>
            </a:r>
            <a:endParaRPr lang="en-US" sz="1200" b="0" u="none" strike="noStrike">
              <a:solidFill>
                <a:srgbClr val="FFFFFF"/>
              </a:solidFill>
              <a:effectLst/>
              <a:uFillTx/>
              <a:latin typeface="Arial"/>
            </a:endParaRPr>
          </a:p>
        </p:txBody>
      </p:sp>
      <p:sp>
        <p:nvSpPr>
          <p:cNvPr id="110"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1. Ledakan Kombinasi (Curse of Dimensionality): </a:t>
            </a:r>
            <a:r>
              <a:rPr lang="en-US" sz="1150" b="0" u="none" strike="noStrike">
                <a:solidFill>
                  <a:srgbClr val="0F172A"/>
                </a:solidFill>
                <a:effectLst/>
                <a:uFillTx/>
                <a:latin typeface="Calibri"/>
              </a:rPr>
              <a:t>Laju layu tanaman ditentukan oleh interaksi non-linier 12+ variabel (suhu, RH, angin, radiasi PAR, pH, EC, umur tanaman). Mustahil menulis ribuan cabang IF-ELSE secara manual!</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2. Ambang Batas yang Bergeser Dinamis: </a:t>
            </a:r>
            <a:r>
              <a:rPr lang="en-US" sz="1150" b="0" u="none" strike="noStrike">
                <a:solidFill>
                  <a:srgbClr val="0F172A"/>
                </a:solidFill>
                <a:effectLst/>
                <a:uFillTx/>
                <a:latin typeface="Calibri"/>
              </a:rPr>
              <a:t>Kelembaban tanah 40% aman bagi bibit cabai saat cuaca mendung, namun mematikan bagi tanaman fase berbuah di siang hari berangin kencang.</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3. Pola Tersembunyi Frekuensi Tinggi: </a:t>
            </a:r>
            <a:r>
              <a:rPr lang="en-US" sz="1150" b="0" u="none" strike="noStrike">
                <a:solidFill>
                  <a:srgbClr val="0F172A"/>
                </a:solidFill>
                <a:effectLst/>
                <a:uFillTx/>
                <a:latin typeface="Calibri"/>
              </a:rPr>
              <a:t>Manusia tidak mampu merumuskan aturan IF-ELSE dari 10.000 angka getaran/detik untuk memprediksi kapan bearing traktor akan patah.</a:t>
            </a:r>
            <a:endParaRPr lang="en-US" sz="1150" b="0" u="none" strike="noStrike">
              <a:solidFill>
                <a:srgbClr val="000000"/>
              </a:solidFill>
              <a:effectLst/>
              <a:uFillTx/>
              <a:latin typeface="Arial"/>
            </a:endParaRPr>
          </a:p>
        </p:txBody>
      </p:sp>
      <p:sp>
        <p:nvSpPr>
          <p:cNvPr id="111"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2"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KESIMPULAN ARSITEKTURAL: </a:t>
            </a:r>
            <a:r>
              <a:rPr lang="en-US" sz="1150" b="0" u="none" strike="noStrike">
                <a:solidFill>
                  <a:srgbClr val="0F172A"/>
                </a:solidFill>
                <a:effectLst/>
                <a:uFillTx/>
                <a:latin typeface="Calibri"/>
              </a:rPr>
              <a:t>Ketika jumlah sensor banyak dan interaksinya kompleks/non-linier, manusia harus berhenti menebak rumus IF-ELSE secara manual dan membiarkan algoritma Machine Learning menemukannya dari data!</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KONSEP INTI KECERDASAN BUATAN</a:t>
            </a:r>
            <a:endParaRPr lang="en-US" sz="1100" b="0" u="none" strike="noStrike">
              <a:solidFill>
                <a:srgbClr val="000000"/>
              </a:solidFill>
              <a:effectLst/>
              <a:uFillTx/>
              <a:latin typeface="Arial"/>
            </a:endParaRPr>
          </a:p>
        </p:txBody>
      </p:sp>
      <p:sp>
        <p:nvSpPr>
          <p:cNvPr id="114"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Pergeseran Paradigma: Pemrograman Tradisional vs Machine Learning</a:t>
            </a:r>
            <a:endParaRPr lang="en-US" sz="2200" b="0" u="none" strike="noStrike">
              <a:solidFill>
                <a:srgbClr val="000000"/>
              </a:solidFill>
              <a:effectLst/>
              <a:uFillTx/>
              <a:latin typeface="Arial"/>
            </a:endParaRPr>
          </a:p>
        </p:txBody>
      </p:sp>
      <p:sp>
        <p:nvSpPr>
          <p:cNvPr id="115"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Memahami pembalikan alur kerja antara fase pelatihan (Training) dan fase prediksi (Inference).</a:t>
            </a:r>
            <a:endParaRPr lang="en-US" sz="1300" b="0" u="none" strike="noStrike">
              <a:solidFill>
                <a:srgbClr val="000000"/>
              </a:solidFill>
              <a:effectLst/>
              <a:uFillTx/>
              <a:latin typeface="Arial"/>
            </a:endParaRPr>
          </a:p>
        </p:txBody>
      </p:sp>
      <p:sp>
        <p:nvSpPr>
          <p:cNvPr id="116"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7"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18"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5</a:t>
            </a:r>
            <a:endParaRPr lang="en-US" sz="1000" b="0" u="none" strike="noStrike">
              <a:solidFill>
                <a:srgbClr val="000000"/>
              </a:solidFill>
              <a:effectLst/>
              <a:uFillTx/>
              <a:latin typeface="Arial"/>
            </a:endParaRPr>
          </a:p>
        </p:txBody>
      </p:sp>
      <p:sp>
        <p:nvSpPr>
          <p:cNvPr id="119"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1. PEMROGRAMAN TRADISIONAL (DETERMINISTIK)</a:t>
            </a:r>
            <a:endParaRPr lang="en-US" sz="1200" b="0" u="none" strike="noStrike">
              <a:solidFill>
                <a:srgbClr val="FFFFFF"/>
              </a:solidFill>
              <a:effectLst/>
              <a:uFillTx/>
              <a:latin typeface="Arial"/>
            </a:endParaRPr>
          </a:p>
        </p:txBody>
      </p:sp>
      <p:sp>
        <p:nvSpPr>
          <p:cNvPr id="121"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Input ke Komputer: </a:t>
            </a:r>
            <a:r>
              <a:rPr lang="en-US" sz="1150" b="0" u="none" strike="noStrike">
                <a:solidFill>
                  <a:srgbClr val="0F172A"/>
                </a:solidFill>
                <a:effectLst/>
                <a:uFillTx/>
                <a:latin typeface="Calibri"/>
              </a:rPr>
              <a:t>Data Sensor Saat Ini (X) + Aturan Logika (Rules / IF-ELSE) yang diketik oleh programmer.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Proses Eksekusi CPU: </a:t>
            </a:r>
            <a:r>
              <a:rPr lang="en-US" sz="1150" b="0" u="none" strike="noStrike">
                <a:solidFill>
                  <a:srgbClr val="0F172A"/>
                </a:solidFill>
                <a:effectLst/>
                <a:uFillTx/>
                <a:latin typeface="Calibri"/>
              </a:rPr>
              <a:t>Mengevaluasi percabangan logika secara kaku tanpa proses belajar.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Output yang Dihasilkan: </a:t>
            </a:r>
            <a:r>
              <a:rPr lang="en-US" sz="1150" b="0" u="none" strike="noStrike">
                <a:solidFill>
                  <a:srgbClr val="0F172A"/>
                </a:solidFill>
                <a:effectLst/>
                <a:uFillTx/>
                <a:latin typeface="Calibri"/>
              </a:rPr>
              <a:t>Jawaban / Tindakan Aktuator (y).</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Keterbatasan Utama: </a:t>
            </a:r>
            <a:r>
              <a:rPr lang="en-US" sz="1150" b="0" u="none" strike="noStrike">
                <a:solidFill>
                  <a:srgbClr val="0F172A"/>
                </a:solidFill>
                <a:effectLst/>
                <a:uFillTx/>
                <a:latin typeface="Calibri"/>
              </a:rPr>
              <a:t>Sistem tidak memiliki kemampuan adaptasi; meskipun telah merekam data selama 5 tahun, kinerjanya tetap sama seperti hari pertama.</a:t>
            </a:r>
            <a:endParaRPr lang="en-US" sz="1150" b="0" u="none" strike="noStrike">
              <a:solidFill>
                <a:srgbClr val="000000"/>
              </a:solidFill>
              <a:effectLst/>
              <a:uFillTx/>
              <a:latin typeface="Arial"/>
            </a:endParaRPr>
          </a:p>
        </p:txBody>
      </p:sp>
      <p:sp>
        <p:nvSpPr>
          <p:cNvPr id="122" name="Rectangle 10"/>
          <p:cNvSpPr/>
          <p:nvPr/>
        </p:nvSpPr>
        <p:spPr>
          <a:xfrm>
            <a:off x="6254640" y="1517760"/>
            <a:ext cx="5202720" cy="385848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3"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2. PARADIGMA MACHINE LEARNING (DATA-DRIVEN)</a:t>
            </a:r>
            <a:endParaRPr lang="en-US" sz="1200" b="0" u="none" strike="noStrike">
              <a:solidFill>
                <a:srgbClr val="FFFFFF"/>
              </a:solidFill>
              <a:effectLst/>
              <a:uFillTx/>
              <a:latin typeface="Arial"/>
            </a:endParaRPr>
          </a:p>
        </p:txBody>
      </p:sp>
      <p:sp>
        <p:nvSpPr>
          <p:cNvPr id="124"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Fase 1 — Training (Proses Belajar di Cloud/Server): </a:t>
            </a:r>
            <a:r>
              <a:rPr lang="en-US" sz="1150" b="0" u="none" strike="noStrike">
                <a:solidFill>
                  <a:srgbClr val="0F172A"/>
                </a:solidFill>
                <a:effectLst/>
                <a:uFillTx/>
                <a:latin typeface="Calibri"/>
              </a:rPr>
              <a:t>Input berupa Data Historis Sensor (X) + Catatan Hasil Nyata Masa Lalu (Label y) ➔ Algoritma menghasilkan MODEL MATEMATIS f(X).</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Fase 2 — Inference (Prediksi Real-Time): </a:t>
            </a:r>
            <a:r>
              <a:rPr lang="en-US" sz="1150" b="0" u="none" strike="noStrike">
                <a:solidFill>
                  <a:srgbClr val="0F172A"/>
                </a:solidFill>
                <a:effectLst/>
                <a:uFillTx/>
                <a:latin typeface="Calibri"/>
              </a:rPr>
              <a:t>Input berupa Data Sensor Baru (X') dimasukkan ke dalam Model Terlatih f(X) ➔ Menghasilkan PREDIKSI / KEPUTUSAN BARU (ŷ).</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Apa itu 'Model' Sebenarnya?: </a:t>
            </a:r>
            <a:r>
              <a:rPr lang="en-US" sz="1150" b="0" u="none" strike="noStrike">
                <a:solidFill>
                  <a:srgbClr val="0F172A"/>
                </a:solidFill>
                <a:effectLst/>
                <a:uFillTx/>
                <a:latin typeface="Calibri"/>
              </a:rPr>
              <a:t>Bukan kotak hitam magis, melainkan persamaan matematika beserta bobot parameter (weights) yang telah dioptimasi oleh data.</a:t>
            </a:r>
            <a:endParaRPr lang="en-US" sz="1150" b="0" u="none" strike="noStrike">
              <a:solidFill>
                <a:srgbClr val="000000"/>
              </a:solidFill>
              <a:effectLst/>
              <a:uFillTx/>
              <a:latin typeface="Arial"/>
            </a:endParaRPr>
          </a:p>
        </p:txBody>
      </p:sp>
      <p:sp>
        <p:nvSpPr>
          <p:cNvPr id="125"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INTISARI PARADIGMA ML: </a:t>
            </a:r>
            <a:r>
              <a:rPr lang="en-US" sz="1150" b="0" u="none" strike="noStrike">
                <a:solidFill>
                  <a:srgbClr val="0F172A"/>
                </a:solidFill>
                <a:effectLst/>
                <a:uFillTx/>
                <a:latin typeface="Calibri"/>
              </a:rPr>
              <a:t>Pemrograman Tradisional: [Data + Aturan ➔ Jawaban].  |  Machine Learning Training: [Data Historis + Jawaban Nyata ➔ Aturan/Model].</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FORMULASI MASALAH ANALITIK IOT (PROBLEM FORMULATION)</a:t>
            </a:r>
            <a:endParaRPr lang="en-US" sz="1100" b="0" u="none" strike="noStrike">
              <a:solidFill>
                <a:srgbClr val="000000"/>
              </a:solidFill>
              <a:effectLst/>
              <a:uFillTx/>
              <a:latin typeface="Arial"/>
            </a:endParaRPr>
          </a:p>
        </p:txBody>
      </p:sp>
      <p:sp>
        <p:nvSpPr>
          <p:cNvPr id="128"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Peta Taksonomi 3 Kategori Machine Learning pada Sistem IoT</a:t>
            </a:r>
            <a:endParaRPr lang="en-US" sz="2200" b="0" u="none" strike="noStrike">
              <a:solidFill>
                <a:srgbClr val="000000"/>
              </a:solidFill>
              <a:effectLst/>
              <a:uFillTx/>
              <a:latin typeface="Arial"/>
            </a:endParaRPr>
          </a:p>
        </p:txBody>
      </p:sp>
      <p:sp>
        <p:nvSpPr>
          <p:cNvPr id="129"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Menentukan keluarga algoritma yang tepat berdasarkan sifat label historis dan bentuk target output.</a:t>
            </a:r>
            <a:endParaRPr lang="en-US" sz="1300" b="0" u="none" strike="noStrike">
              <a:solidFill>
                <a:srgbClr val="000000"/>
              </a:solidFill>
              <a:effectLst/>
              <a:uFillTx/>
              <a:latin typeface="Arial"/>
            </a:endParaRPr>
          </a:p>
        </p:txBody>
      </p:sp>
      <p:sp>
        <p:nvSpPr>
          <p:cNvPr id="130"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31"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32"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6</a:t>
            </a:r>
            <a:endParaRPr lang="en-US" sz="1000" b="0" u="none" strike="noStrike">
              <a:solidFill>
                <a:srgbClr val="000000"/>
              </a:solidFill>
              <a:effectLst/>
              <a:uFillTx/>
              <a:latin typeface="Arial"/>
            </a:endParaRPr>
          </a:p>
        </p:txBody>
      </p:sp>
      <p:graphicFrame>
        <p:nvGraphicFramePr>
          <p:cNvPr id="133" name="Table 7"/>
          <p:cNvGraphicFramePr/>
          <p:nvPr/>
        </p:nvGraphicFramePr>
        <p:xfrm>
          <a:off x="731520" y="1536120"/>
          <a:ext cx="10725480" cy="3748680"/>
        </p:xfrm>
        <a:graphic>
          <a:graphicData uri="http://schemas.openxmlformats.org/drawingml/2006/table">
            <a:tbl>
              <a:tblPr/>
              <a:tblGrid>
                <a:gridCol w="2103120"/>
                <a:gridCol w="1691640"/>
                <a:gridCol w="1874160"/>
                <a:gridCol w="3044880"/>
                <a:gridCol w="2011680"/>
              </a:tblGrid>
              <a:tr h="937080">
                <a:tc>
                  <a:txBody>
                    <a:bodyPr anchor="ctr">
                      <a:noAutofit/>
                    </a:bodyPr>
                    <a:p>
                      <a:pPr defTabSz="457200">
                        <a:lnSpc>
                          <a:spcPct val="100000"/>
                        </a:lnSpc>
                      </a:pPr>
                      <a:r>
                        <a:rPr lang="en-US" sz="1150" b="1" u="none" strike="noStrike">
                          <a:solidFill>
                            <a:srgbClr val="FFFFFF"/>
                          </a:solidFill>
                          <a:effectLst/>
                          <a:uFillTx/>
                          <a:latin typeface="Calibri"/>
                        </a:rPr>
                        <a:t>Kategori Pembelajaran</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Syarat Label Historis</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Bentuk Output (ŷ)</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Contoh Studi Kasus Smart Agriculture</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Algoritma Populer</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937080">
                <a:tc>
                  <a:txBody>
                    <a:bodyPr anchor="ctr">
                      <a:noAutofit/>
                    </a:bodyPr>
                    <a:p>
                      <a:pPr defTabSz="457200">
                        <a:lnSpc>
                          <a:spcPct val="100000"/>
                        </a:lnSpc>
                      </a:pPr>
                      <a:r>
                        <a:rPr lang="en-US" sz="1100" b="1" u="none" strike="noStrike">
                          <a:solidFill>
                            <a:srgbClr val="0F172A"/>
                          </a:solidFill>
                          <a:effectLst/>
                          <a:uFillTx/>
                          <a:latin typeface="Calibri"/>
                        </a:rPr>
                        <a:t>1. Supervised Regression</a:t>
                      </a:r>
                      <a:br>
                        <a:rPr sz="1100"/>
                      </a:br>
                      <a:r>
                        <a:rPr lang="en-US" sz="1100" b="1" u="none" strike="noStrike">
                          <a:solidFill>
                            <a:srgbClr val="0F172A"/>
                          </a:solidFill>
                          <a:effectLst/>
                          <a:uFillTx/>
                          <a:latin typeface="Calibri"/>
                        </a:rPr>
                        <a:t>(Forecasting)</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Wajib Ada Label</a:t>
                      </a:r>
                      <a:br>
                        <a:rPr sz="1100"/>
                      </a:br>
                      <a:r>
                        <a:rPr lang="en-US" sz="1100" b="0" u="none" strike="noStrike">
                          <a:solidFill>
                            <a:srgbClr val="0F172A"/>
                          </a:solidFill>
                          <a:effectLst/>
                          <a:uFillTx/>
                          <a:latin typeface="Calibri"/>
                        </a:rPr>
                        <a:t>(Angka Kontinu)</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Nilai Desimal Berkelanjutan</a:t>
                      </a:r>
                      <a:br>
                        <a:rPr sz="1100"/>
                      </a:br>
                      <a:r>
                        <a:rPr lang="en-US" sz="1100" b="0" u="none" strike="noStrike">
                          <a:solidFill>
                            <a:srgbClr val="0F172A"/>
                          </a:solidFill>
                          <a:effectLst/>
                          <a:uFillTx/>
                          <a:latin typeface="Calibri"/>
                        </a:rPr>
                        <a:t>(misal: 29.4°C, 62.5%)</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Meramal suhu rumah kaca &amp; kelembaban tanah 3 jam ke depan; estimasi sisa umur pompa (RUL).</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Linear Regression,</a:t>
                      </a:r>
                      <a:br>
                        <a:rPr sz="1100"/>
                      </a:br>
                      <a:r>
                        <a:rPr lang="en-US" sz="1100" b="0" u="none" strike="noStrike">
                          <a:solidFill>
                            <a:srgbClr val="0F172A"/>
                          </a:solidFill>
                          <a:effectLst/>
                          <a:uFillTx/>
                          <a:latin typeface="Calibri"/>
                        </a:rPr>
                        <a:t>Random Forest Regressor,</a:t>
                      </a:r>
                      <a:br>
                        <a:rPr sz="1100"/>
                      </a:br>
                      <a:r>
                        <a:rPr lang="en-US" sz="1100" b="0" u="none" strike="noStrike">
                          <a:solidFill>
                            <a:srgbClr val="0F172A"/>
                          </a:solidFill>
                          <a:effectLst/>
                          <a:uFillTx/>
                          <a:latin typeface="Calibri"/>
                        </a:rPr>
                        <a:t>ARIMA, LSTM</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937080">
                <a:tc>
                  <a:txBody>
                    <a:bodyPr anchor="ctr">
                      <a:noAutofit/>
                    </a:bodyPr>
                    <a:p>
                      <a:pPr defTabSz="457200">
                        <a:lnSpc>
                          <a:spcPct val="100000"/>
                        </a:lnSpc>
                      </a:pPr>
                      <a:r>
                        <a:rPr lang="en-US" sz="1100" b="1" u="none" strike="noStrike">
                          <a:solidFill>
                            <a:srgbClr val="0F172A"/>
                          </a:solidFill>
                          <a:effectLst/>
                          <a:uFillTx/>
                          <a:latin typeface="Calibri"/>
                        </a:rPr>
                        <a:t>2. Supervised Classification</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Wajib Ada Label</a:t>
                      </a:r>
                      <a:br>
                        <a:rPr sz="1100"/>
                      </a:br>
                      <a:r>
                        <a:rPr lang="en-US" sz="1100" b="0" u="none" strike="noStrike">
                          <a:solidFill>
                            <a:srgbClr val="0F172A"/>
                          </a:solidFill>
                          <a:effectLst/>
                          <a:uFillTx/>
                          <a:latin typeface="Calibri"/>
                        </a:rPr>
                        <a:t>(Kategori Diskrit)</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Kelas / Kategori Tegas</a:t>
                      </a:r>
                      <a:br>
                        <a:rPr sz="1100"/>
                      </a:br>
                      <a:r>
                        <a:rPr lang="en-US" sz="1100" b="0" u="none" strike="noStrike">
                          <a:solidFill>
                            <a:srgbClr val="0F172A"/>
                          </a:solidFill>
                          <a:effectLst/>
                          <a:uFillTx/>
                          <a:latin typeface="Calibri"/>
                        </a:rPr>
                        <a:t>(misal: Normal vs Rusak)</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Mendiagnosis jenis penyakit daun dari citra; klasifikasi status getaran motor (Sehat, Kavitasi, Aus).</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Logistic Regression,</a:t>
                      </a:r>
                      <a:br>
                        <a:rPr sz="1100"/>
                      </a:br>
                      <a:r>
                        <a:rPr lang="en-US" sz="1100" b="0" u="none" strike="noStrike">
                          <a:solidFill>
                            <a:srgbClr val="0F172A"/>
                          </a:solidFill>
                          <a:effectLst/>
                          <a:uFillTx/>
                          <a:latin typeface="Calibri"/>
                        </a:rPr>
                        <a:t>Decision Tree, SVM,</a:t>
                      </a:r>
                      <a:br>
                        <a:rPr sz="1100"/>
                      </a:br>
                      <a:r>
                        <a:rPr lang="en-US" sz="1100" b="0" u="none" strike="noStrike">
                          <a:solidFill>
                            <a:srgbClr val="0F172A"/>
                          </a:solidFill>
                          <a:effectLst/>
                          <a:uFillTx/>
                          <a:latin typeface="Calibri"/>
                        </a:rPr>
                        <a:t>Random Forest, CNN</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937080">
                <a:tc>
                  <a:txBody>
                    <a:bodyPr anchor="ctr">
                      <a:noAutofit/>
                    </a:bodyPr>
                    <a:p>
                      <a:pPr defTabSz="457200">
                        <a:lnSpc>
                          <a:spcPct val="100000"/>
                        </a:lnSpc>
                      </a:pPr>
                      <a:r>
                        <a:rPr lang="en-US" sz="1100" b="1" u="none" strike="noStrike">
                          <a:solidFill>
                            <a:srgbClr val="0F172A"/>
                          </a:solidFill>
                          <a:effectLst/>
                          <a:uFillTx/>
                          <a:latin typeface="Calibri"/>
                        </a:rPr>
                        <a:t>3. Unsupervised Learning</a:t>
                      </a:r>
                      <a:br>
                        <a:rPr sz="1100"/>
                      </a:br>
                      <a:r>
                        <a:rPr lang="en-US" sz="1100" b="1" u="none" strike="noStrike">
                          <a:solidFill>
                            <a:srgbClr val="0F172A"/>
                          </a:solidFill>
                          <a:effectLst/>
                          <a:uFillTx/>
                          <a:latin typeface="Calibri"/>
                        </a:rPr>
                        <a:t>(Anomaly Detection)</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TIDAK BUTUH LABEL</a:t>
                      </a:r>
                      <a:br>
                        <a:rPr sz="1100"/>
                      </a:br>
                      <a:r>
                        <a:rPr lang="en-US" sz="1100" b="0" u="none" strike="noStrike">
                          <a:solidFill>
                            <a:srgbClr val="0F172A"/>
                          </a:solidFill>
                          <a:effectLst/>
                          <a:uFillTx/>
                          <a:latin typeface="Calibri"/>
                        </a:rPr>
                        <a:t>(Unlabeled Data)</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Skor / Label Anomali</a:t>
                      </a:r>
                      <a:br>
                        <a:rPr sz="1100"/>
                      </a:br>
                      <a:r>
                        <a:rPr lang="en-US" sz="1100" b="0" u="none" strike="noStrike">
                          <a:solidFill>
                            <a:srgbClr val="0F172A"/>
                          </a:solidFill>
                          <a:effectLst/>
                          <a:uFillTx/>
                          <a:latin typeface="Calibri"/>
                        </a:rPr>
                        <a:t>(+1 Normal, -1 Anomali)</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Mendeteksi kombinasi ganjil suhu, kelembaban, dan pH tanah tanpa riwayat label kerusakan sebelumnya.</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Isolation Forest,</a:t>
                      </a:r>
                      <a:br>
                        <a:rPr sz="1100"/>
                      </a:br>
                      <a:r>
                        <a:rPr lang="en-US" sz="1100" b="0" u="none" strike="noStrike">
                          <a:solidFill>
                            <a:srgbClr val="0F172A"/>
                          </a:solidFill>
                          <a:effectLst/>
                          <a:uFillTx/>
                          <a:latin typeface="Calibri"/>
                        </a:rPr>
                        <a:t>One-Class SVM,</a:t>
                      </a:r>
                      <a:br>
                        <a:rPr sz="1100"/>
                      </a:br>
                      <a:r>
                        <a:rPr lang="en-US" sz="1100" b="0" u="none" strike="noStrike">
                          <a:solidFill>
                            <a:srgbClr val="0F172A"/>
                          </a:solidFill>
                          <a:effectLst/>
                          <a:uFillTx/>
                          <a:latin typeface="Calibri"/>
                        </a:rPr>
                        <a:t>K-Means, Autoencoder</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bl>
          </a:graphicData>
        </a:graphic>
      </p:graphicFrame>
      <p:sp>
        <p:nvSpPr>
          <p:cNvPr id="134" name="Rectangle 8"/>
          <p:cNvSpPr/>
          <p:nvPr/>
        </p:nvSpPr>
        <p:spPr>
          <a:xfrm>
            <a:off x="731520" y="5523120"/>
            <a:ext cx="10725480" cy="69444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5" name="TextBox 9"/>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ATURAN CEPAT FORMULASI MASALAH: </a:t>
            </a:r>
            <a:r>
              <a:rPr lang="en-US" sz="1150" b="0" u="none" strike="noStrike">
                <a:solidFill>
                  <a:srgbClr val="0F172A"/>
                </a:solidFill>
                <a:effectLst/>
                <a:uFillTx/>
                <a:latin typeface="Calibri"/>
              </a:rPr>
              <a:t>Ingin menebak BERAPA nilainya besok? Gunakan Regresi. Ingin menebak APA jenis kondisinya? Gunakan Klasifikasi. Tidak punya label kerusakan masa lalu? Gunakan Unsupervised Anomaly Detection!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PERAMALAN DERET WAKTU (TIME-SERIES FORECASTING)</a:t>
            </a:r>
            <a:endParaRPr lang="en-US" sz="1100" b="0" u="none" strike="noStrike">
              <a:solidFill>
                <a:srgbClr val="000000"/>
              </a:solidFill>
              <a:effectLst/>
              <a:uFillTx/>
              <a:latin typeface="Arial"/>
            </a:endParaRPr>
          </a:p>
        </p:txBody>
      </p:sp>
      <p:sp>
        <p:nvSpPr>
          <p:cNvPr id="137"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Bagaimana Mesin Meramal Masa Depan? Konsep Lag Features</a:t>
            </a:r>
            <a:endParaRPr lang="en-US" sz="2200" b="0" u="none" strike="noStrike">
              <a:solidFill>
                <a:srgbClr val="000000"/>
              </a:solidFill>
              <a:effectLst/>
              <a:uFillTx/>
              <a:latin typeface="Arial"/>
            </a:endParaRPr>
          </a:p>
        </p:txBody>
      </p:sp>
      <p:sp>
        <p:nvSpPr>
          <p:cNvPr id="138"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Mentransformasikan deret waktu tunggal menjadi matriks fitur Supervised Learning (Autoregression).</a:t>
            </a:r>
            <a:endParaRPr lang="en-US" sz="1300" b="0" u="none" strike="noStrike">
              <a:solidFill>
                <a:srgbClr val="000000"/>
              </a:solidFill>
              <a:effectLst/>
              <a:uFillTx/>
              <a:latin typeface="Arial"/>
            </a:endParaRPr>
          </a:p>
        </p:txBody>
      </p:sp>
      <p:sp>
        <p:nvSpPr>
          <p:cNvPr id="139"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40"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41"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7</a:t>
            </a:r>
            <a:endParaRPr lang="en-US" sz="1000" b="0" u="none" strike="noStrike">
              <a:solidFill>
                <a:srgbClr val="000000"/>
              </a:solidFill>
              <a:effectLst/>
              <a:uFillTx/>
              <a:latin typeface="Arial"/>
            </a:endParaRPr>
          </a:p>
        </p:txBody>
      </p:sp>
      <p:sp>
        <p:nvSpPr>
          <p:cNvPr id="142"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PRINSIP DASAR AUTOREGRESSION &amp; LAGGING</a:t>
            </a:r>
            <a:endParaRPr lang="en-US" sz="1200" b="0" u="none" strike="noStrike">
              <a:solidFill>
                <a:srgbClr val="FFFFFF"/>
              </a:solidFill>
              <a:effectLst/>
              <a:uFillTx/>
              <a:latin typeface="Arial"/>
            </a:endParaRPr>
          </a:p>
        </p:txBody>
      </p:sp>
      <p:sp>
        <p:nvSpPr>
          <p:cNvPr id="144"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Hukum Inersia Termal &amp; Fisika: </a:t>
            </a:r>
            <a:r>
              <a:rPr lang="en-US" sz="1150" b="0" u="none" strike="noStrike">
                <a:solidFill>
                  <a:srgbClr val="0F172A"/>
                </a:solidFill>
                <a:effectLst/>
                <a:uFillTx/>
                <a:latin typeface="Calibri"/>
              </a:rPr>
              <a:t>Suhu atau kelembaban tanah pada pukul 11:00 (y_t) tidak muncul secara acak, melainkan kelanjutan dari suhu pukul 10:00 (y_{t-1}) dan pukul 09:00 (y_{t-2}).</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Apa itu Lag Feature?: </a:t>
            </a:r>
            <a:r>
              <a:rPr lang="en-US" sz="1150" b="0" u="none" strike="noStrike">
                <a:solidFill>
                  <a:srgbClr val="0F172A"/>
                </a:solidFill>
                <a:effectLst/>
                <a:uFillTx/>
                <a:latin typeface="Calibri"/>
              </a:rPr>
              <a:t>Kolom fitur baru yang diciptakan dengan menggeser (shift) nilai historis sensor mundur sebanyak 1, 2, ..., p langkah waktu sebagai input X bagi model.</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Rumus Regresi Linier Lag-2: </a:t>
            </a:r>
            <a:r>
              <a:rPr lang="en-US" sz="1150" b="0" u="none" strike="noStrike">
                <a:solidFill>
                  <a:srgbClr val="0F172A"/>
                </a:solidFill>
                <a:effectLst/>
                <a:uFillTx/>
                <a:latin typeface="Calibri"/>
              </a:rPr>
              <a:t>ŷ_t = β_0 + (β_1 × Suhu_{t-1}) + (β_2 × Suhu_{t-2}), di mana β adalah bobot yang dipelajari oleh Scikit-Learn.</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Implementasi di Pandas: </a:t>
            </a:r>
            <a:r>
              <a:rPr lang="en-US" sz="1150" b="0" u="none" strike="noStrike">
                <a:solidFill>
                  <a:srgbClr val="0F172A"/>
                </a:solidFill>
                <a:effectLst/>
                <a:uFillTx/>
                <a:latin typeface="Calibri"/>
              </a:rPr>
              <a:t>Gunakan df['suhu_lag1'] = df['suhu'].shift(1) lalu bersihkan baris awal dengan df.dropna().</a:t>
            </a:r>
            <a:endParaRPr lang="en-US" sz="1150" b="0" u="none" strike="noStrike">
              <a:solidFill>
                <a:srgbClr val="000000"/>
              </a:solidFill>
              <a:effectLst/>
              <a:uFillTx/>
              <a:latin typeface="Arial"/>
            </a:endParaRPr>
          </a:p>
        </p:txBody>
      </p:sp>
      <p:sp>
        <p:nvSpPr>
          <p:cNvPr id="145"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ILUSTRASI TRANSFORMASI TABEL (LAG-1 &amp; LAG-2)</a:t>
            </a:r>
            <a:endParaRPr lang="en-US" sz="1200" b="0" u="none" strike="noStrike">
              <a:solidFill>
                <a:srgbClr val="FFFFFF"/>
              </a:solidFill>
              <a:effectLst/>
              <a:uFillTx/>
              <a:latin typeface="Arial"/>
            </a:endParaRPr>
          </a:p>
        </p:txBody>
      </p:sp>
      <p:sp>
        <p:nvSpPr>
          <p:cNvPr id="147"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Pukul 08:00 (Baris Awal): </a:t>
            </a:r>
            <a:r>
              <a:rPr lang="en-US" sz="1150" b="0" u="none" strike="noStrike">
                <a:solidFill>
                  <a:srgbClr val="0F172A"/>
                </a:solidFill>
                <a:effectLst/>
                <a:uFillTx/>
                <a:latin typeface="Calibri"/>
              </a:rPr>
              <a:t>Suhu Aktual = 25.0°C | Lag-1 = NaN | Lag-2 = NaN  ➔ (Dihapus oleh dropna karena belum punya masa lalu).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Pukul 09:00 (Baris Kedua): </a:t>
            </a:r>
            <a:r>
              <a:rPr lang="en-US" sz="1150" b="0" u="none" strike="noStrike">
                <a:solidFill>
                  <a:srgbClr val="0F172A"/>
                </a:solidFill>
                <a:effectLst/>
                <a:uFillTx/>
                <a:latin typeface="Calibri"/>
              </a:rPr>
              <a:t>Suhu Aktual = 26.2°C | Lag-1 = 25.0°C | Lag-2 = NaN ➔ (Dihapus oleh dropna).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Pukul 10:00 (Sampel Latih #1): </a:t>
            </a:r>
            <a:r>
              <a:rPr lang="en-US" sz="1150" b="0" u="none" strike="noStrike">
                <a:solidFill>
                  <a:srgbClr val="0F172A"/>
                </a:solidFill>
                <a:effectLst/>
                <a:uFillTx/>
                <a:latin typeface="Calibri"/>
              </a:rPr>
              <a:t>Target y = 27.8°C  &lt;== Diprediksi dari Fitur X: [Lag-1 = 26.2°C, Lag-2 = 25.0°C].</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Pukul 11:00 (Sampel Latih #2): </a:t>
            </a:r>
            <a:r>
              <a:rPr lang="en-US" sz="1150" b="0" u="none" strike="noStrike">
                <a:solidFill>
                  <a:srgbClr val="0F172A"/>
                </a:solidFill>
                <a:effectLst/>
                <a:uFillTx/>
                <a:latin typeface="Calibri"/>
              </a:rPr>
              <a:t>Target y = 29.5°C  &lt;== Diprediksi dari Fitur X: [Lag-1 = 27.8°C, Lag-2 = 26.2°C].</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Pukul 12:00 (Prediksi Masa Depan): </a:t>
            </a:r>
            <a:r>
              <a:rPr lang="en-US" sz="1150" b="0" u="none" strike="noStrike">
                <a:solidFill>
                  <a:srgbClr val="0F172A"/>
                </a:solidFill>
                <a:effectLst/>
                <a:uFillTx/>
                <a:latin typeface="Calibri"/>
              </a:rPr>
              <a:t>Target ŷ = ??? °C  &lt;== Dihitung model dari [Lag-1 = 29.5°C, Lag-2 = 27.8°C]!</a:t>
            </a:r>
            <a:endParaRPr lang="en-US" sz="1150" b="0" u="none" strike="noStrike">
              <a:solidFill>
                <a:srgbClr val="000000"/>
              </a:solidFill>
              <a:effectLst/>
              <a:uFillTx/>
              <a:latin typeface="Arial"/>
            </a:endParaRPr>
          </a:p>
        </p:txBody>
      </p:sp>
      <p:sp>
        <p:nvSpPr>
          <p:cNvPr id="148"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SYARAT MUTLAK PRA-PEMROSESAN: </a:t>
            </a:r>
            <a:r>
              <a:rPr lang="en-US" sz="1150" b="0" u="none" strike="noStrike">
                <a:solidFill>
                  <a:srgbClr val="0F172A"/>
                </a:solidFill>
                <a:effectLst/>
                <a:uFillTx/>
                <a:latin typeface="Calibri"/>
              </a:rPr>
              <a:t>Sebelum membuat kolom .shift(1), pastikan indeks waktu sudah seragam (resampled) dan tidak ada lubang waktu yang terlompati!</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METODOLOGI VALIDASI MODEL DERET WAKTU</a:t>
            </a:r>
            <a:endParaRPr lang="en-US" sz="1100" b="0" u="none" strike="noStrike">
              <a:solidFill>
                <a:srgbClr val="000000"/>
              </a:solidFill>
              <a:effectLst/>
              <a:uFillTx/>
              <a:latin typeface="Arial"/>
            </a:endParaRPr>
          </a:p>
        </p:txBody>
      </p:sp>
      <p:sp>
        <p:nvSpPr>
          <p:cNvPr id="151"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Aturan Emas Pembagian Data Time-Series: shuffle=False!</a:t>
            </a:r>
            <a:endParaRPr lang="en-US" sz="2200" b="0" u="none" strike="noStrike">
              <a:solidFill>
                <a:srgbClr val="000000"/>
              </a:solidFill>
              <a:effectLst/>
              <a:uFillTx/>
              <a:latin typeface="Arial"/>
            </a:endParaRPr>
          </a:p>
        </p:txBody>
      </p:sp>
      <p:sp>
        <p:nvSpPr>
          <p:cNvPr id="152"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Mencegah kesalahan fatal kebocoran masa depan (Data Leakage / Look-Ahead Bias) saat evaluasi model.</a:t>
            </a:r>
            <a:endParaRPr lang="en-US" sz="1300" b="0" u="none" strike="noStrike">
              <a:solidFill>
                <a:srgbClr val="000000"/>
              </a:solidFill>
              <a:effectLst/>
              <a:uFillTx/>
              <a:latin typeface="Arial"/>
            </a:endParaRPr>
          </a:p>
        </p:txBody>
      </p:sp>
      <p:sp>
        <p:nvSpPr>
          <p:cNvPr id="153"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54"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55"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8</a:t>
            </a:r>
            <a:endParaRPr lang="en-US" sz="1000" b="0" u="none" strike="noStrike">
              <a:solidFill>
                <a:srgbClr val="000000"/>
              </a:solidFill>
              <a:effectLst/>
              <a:uFillTx/>
              <a:latin typeface="Arial"/>
            </a:endParaRPr>
          </a:p>
        </p:txBody>
      </p:sp>
      <p:sp>
        <p:nvSpPr>
          <p:cNvPr id="156"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7"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MENGAPA DATA WAJIB DIBAGI (80% TRAIN : 20% TEST)?</a:t>
            </a:r>
            <a:endParaRPr lang="en-US" sz="1200" b="0" u="none" strike="noStrike">
              <a:solidFill>
                <a:srgbClr val="FFFFFF"/>
              </a:solidFill>
              <a:effectLst/>
              <a:uFillTx/>
              <a:latin typeface="Arial"/>
            </a:endParaRPr>
          </a:p>
        </p:txBody>
      </p:sp>
      <p:sp>
        <p:nvSpPr>
          <p:cNvPr id="158"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Bahaya Menguji dengan Soal Latihan: </a:t>
            </a:r>
            <a:r>
              <a:rPr lang="en-US" sz="1150" b="0" u="none" strike="noStrike">
                <a:solidFill>
                  <a:srgbClr val="0F172A"/>
                </a:solidFill>
                <a:effectLst/>
                <a:uFillTx/>
                <a:latin typeface="Calibri"/>
              </a:rPr>
              <a:t>Jika model diuji menggunakan data yang sama persis saat pelatihan, model hanya menghafal derau masa lalu (Overfitting) dan gagal saat menghadapi data baru.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Training Set (80% Periode Awal): </a:t>
            </a:r>
            <a:r>
              <a:rPr lang="en-US" sz="1150" b="0" u="none" strike="noStrike">
                <a:solidFill>
                  <a:srgbClr val="0F172A"/>
                </a:solidFill>
                <a:effectLst/>
                <a:uFillTx/>
                <a:latin typeface="Calibri"/>
              </a:rPr>
              <a:t>Disuapkan ke dalam fungsi model.fit(X_train, y_train) agar mesin mempelajari pola hubungan antar-variabel.</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Testing Set (20% Periode Akhir): </a:t>
            </a:r>
            <a:r>
              <a:rPr lang="en-US" sz="1150" b="0" u="none" strike="noStrike">
                <a:solidFill>
                  <a:srgbClr val="0F172A"/>
                </a:solidFill>
                <a:effectLst/>
                <a:uFillTx/>
                <a:latin typeface="Calibri"/>
              </a:rPr>
              <a:t>Disembunyikan selama pelatihan, lalu dipakai pada model.predict(X_test) untuk menguji akurasi ramalan secara jujur.</a:t>
            </a:r>
            <a:endParaRPr lang="en-US" sz="1150" b="0" u="none" strike="noStrike">
              <a:solidFill>
                <a:srgbClr val="000000"/>
              </a:solidFill>
              <a:effectLst/>
              <a:uFillTx/>
              <a:latin typeface="Arial"/>
            </a:endParaRPr>
          </a:p>
        </p:txBody>
      </p:sp>
      <p:sp>
        <p:nvSpPr>
          <p:cNvPr id="159" name="Rectangle 10"/>
          <p:cNvSpPr/>
          <p:nvPr/>
        </p:nvSpPr>
        <p:spPr>
          <a:xfrm>
            <a:off x="6254640" y="1517760"/>
            <a:ext cx="5202720" cy="385848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MENGAPA DILARANG MENGACAK BARIS (SHUFFLE=TRUE)?</a:t>
            </a:r>
            <a:endParaRPr lang="en-US" sz="1200" b="0" u="none" strike="noStrike">
              <a:solidFill>
                <a:srgbClr val="FFFFFF"/>
              </a:solidFill>
              <a:effectLst/>
              <a:uFillTx/>
              <a:latin typeface="Arial"/>
            </a:endParaRPr>
          </a:p>
        </p:txBody>
      </p:sp>
      <p:sp>
        <p:nvSpPr>
          <p:cNvPr id="161"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Perilaku Bawaan Scikit-Learn: </a:t>
            </a:r>
            <a:r>
              <a:rPr lang="en-US" sz="1150" b="0" u="none" strike="noStrike">
                <a:solidFill>
                  <a:srgbClr val="0F172A"/>
                </a:solidFill>
                <a:effectLst/>
                <a:uFillTx/>
                <a:latin typeface="Calibri"/>
              </a:rPr>
              <a:t>Fungsi train_test_split(X, y) secara default mengacak urutan baris (shuffle=True) karena dirancang untuk data tabel non-waktu.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Bencana Look-Ahead Bias di IoT: </a:t>
            </a:r>
            <a:r>
              <a:rPr lang="en-US" sz="1150" b="0" u="none" strike="noStrike">
                <a:solidFill>
                  <a:srgbClr val="0F172A"/>
                </a:solidFill>
                <a:effectLst/>
                <a:uFillTx/>
                <a:latin typeface="Calibri"/>
              </a:rPr>
              <a:t>Jika diacak, data masa depan (misal tanggal 28 Oktober) masuk ke Training Set untuk menebak suhu masa lalu (tanggal 10 Oktober). Akurasi terlihat tinggi palsu di lab, tapi hancur di produksi!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Sintaks Wajib Time-Series: </a:t>
            </a:r>
            <a:r>
              <a:rPr lang="en-US" sz="1150" b="0" u="none" strike="noStrike">
                <a:solidFill>
                  <a:srgbClr val="0F172A"/>
                </a:solidFill>
                <a:effectLst/>
                <a:uFillTx/>
                <a:latin typeface="Calibri"/>
              </a:rPr>
              <a:t>X_train, X_test, y_train, y_test = train_test_split(X, y, test_size=0.2, shuffle=False).</a:t>
            </a:r>
            <a:endParaRPr lang="en-US" sz="1150" b="0" u="none" strike="noStrike">
              <a:solidFill>
                <a:srgbClr val="000000"/>
              </a:solidFill>
              <a:effectLst/>
              <a:uFillTx/>
              <a:latin typeface="Arial"/>
            </a:endParaRPr>
          </a:p>
        </p:txBody>
      </p:sp>
      <p:sp>
        <p:nvSpPr>
          <p:cNvPr id="162"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HUKUM KRONOLOGIS TIME-SERIES: </a:t>
            </a:r>
            <a:r>
              <a:rPr lang="en-US" sz="1150" b="0" u="none" strike="noStrike">
                <a:solidFill>
                  <a:srgbClr val="0F172A"/>
                </a:solidFill>
                <a:effectLst/>
                <a:uFillTx/>
                <a:latin typeface="Calibri"/>
              </a:rPr>
              <a:t>Urutan waktu adalah sakral: 80% data masa lalu (Misal: 1 s.d. 24 Oktober) WAJIB melatih model untuk diuji pada 20% data masa depan (25 s.d. 31 Oktober)!</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PENGUKURAN KINERJA MODEL PREDIKTIF</a:t>
            </a:r>
            <a:endParaRPr lang="en-US" sz="1100" b="0" u="none" strike="noStrike">
              <a:solidFill>
                <a:srgbClr val="000000"/>
              </a:solidFill>
              <a:effectLst/>
              <a:uFillTx/>
              <a:latin typeface="Arial"/>
            </a:endParaRPr>
          </a:p>
        </p:txBody>
      </p:sp>
      <p:sp>
        <p:nvSpPr>
          <p:cNvPr id="165"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Metrik Evaluasi Akurasi Forecasting: MAE, MSE, RMSE, &amp; R²</a:t>
            </a:r>
            <a:endParaRPr lang="en-US" sz="2200" b="0" u="none" strike="noStrike">
              <a:solidFill>
                <a:srgbClr val="000000"/>
              </a:solidFill>
              <a:effectLst/>
              <a:uFillTx/>
              <a:latin typeface="Arial"/>
            </a:endParaRPr>
          </a:p>
        </p:txBody>
      </p:sp>
      <p:sp>
        <p:nvSpPr>
          <p:cNvPr id="166"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Empat tolok ukur matematis untuk menilai seberapa tepat tebakan model AI terhadap kenyataan sensor.</a:t>
            </a:r>
            <a:endParaRPr lang="en-US" sz="1300" b="0" u="none" strike="noStrike">
              <a:solidFill>
                <a:srgbClr val="000000"/>
              </a:solidFill>
              <a:effectLst/>
              <a:uFillTx/>
              <a:latin typeface="Arial"/>
            </a:endParaRPr>
          </a:p>
        </p:txBody>
      </p:sp>
      <p:sp>
        <p:nvSpPr>
          <p:cNvPr id="167"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68"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69"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9</a:t>
            </a:r>
            <a:endParaRPr lang="en-US" sz="1000" b="0" u="none" strike="noStrike">
              <a:solidFill>
                <a:srgbClr val="000000"/>
              </a:solidFill>
              <a:effectLst/>
              <a:uFillTx/>
              <a:latin typeface="Arial"/>
            </a:endParaRPr>
          </a:p>
        </p:txBody>
      </p:sp>
      <p:sp>
        <p:nvSpPr>
          <p:cNvPr id="170"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1. MAE &amp; 2. MSE / RMSE (BERBASIS SELISIH GALAT)</a:t>
            </a:r>
            <a:endParaRPr lang="en-US" sz="1200" b="0" u="none" strike="noStrike">
              <a:solidFill>
                <a:srgbClr val="FFFFFF"/>
              </a:solidFill>
              <a:effectLst/>
              <a:uFillTx/>
              <a:latin typeface="Arial"/>
            </a:endParaRPr>
          </a:p>
        </p:txBody>
      </p:sp>
      <p:sp>
        <p:nvSpPr>
          <p:cNvPr id="172"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MAE (Mean Absolute Error): </a:t>
            </a:r>
            <a:r>
              <a:rPr lang="en-US" sz="1150" b="0" u="none" strike="noStrike">
                <a:solidFill>
                  <a:srgbClr val="0F172A"/>
                </a:solidFill>
                <a:effectLst/>
                <a:uFillTx/>
                <a:latin typeface="Calibri"/>
              </a:rPr>
              <a:t>Rata-rata selisih mutlak |y_aktual - ŷ_prediksi|. Sangat intuitif karena satuannya sama persis dengan sensor (misal: rata-rata meleset 0.45°C).</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MSE (Mean Squared Error): </a:t>
            </a:r>
            <a:r>
              <a:rPr lang="en-US" sz="1150" b="0" u="none" strike="noStrike">
                <a:solidFill>
                  <a:srgbClr val="0F172A"/>
                </a:solidFill>
                <a:effectLst/>
                <a:uFillTx/>
                <a:latin typeface="Calibri"/>
              </a:rPr>
              <a:t>Rata-rata dari kuadrat selisih galat: (y_aktual - ŷ_prediksi)². Memberikan bobot penalti kuadratik pada kesalahan besar.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RMSE (Root Mean Squared Error): </a:t>
            </a:r>
            <a:r>
              <a:rPr lang="en-US" sz="1150" b="0" u="none" strike="noStrike">
                <a:solidFill>
                  <a:srgbClr val="0F172A"/>
                </a:solidFill>
                <a:effectLst/>
                <a:uFillTx/>
                <a:latin typeface="Calibri"/>
              </a:rPr>
              <a:t>Akar kuadrat dari MSE (√MSE). Mengembalikan satuan ke °C, namun jauh lebih sensitif menghukum lonjakan tebakan yang meleset jauh dibandingkan MAE!</a:t>
            </a:r>
            <a:endParaRPr lang="en-US" sz="1150" b="0" u="none" strike="noStrike">
              <a:solidFill>
                <a:srgbClr val="000000"/>
              </a:solidFill>
              <a:effectLst/>
              <a:uFillTx/>
              <a:latin typeface="Arial"/>
            </a:endParaRPr>
          </a:p>
        </p:txBody>
      </p:sp>
      <p:sp>
        <p:nvSpPr>
          <p:cNvPr id="173"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3. R-SQUARED (R² — KOEFISIEN DETERMINASI)</a:t>
            </a:r>
            <a:endParaRPr lang="en-US" sz="1200" b="0" u="none" strike="noStrike">
              <a:solidFill>
                <a:srgbClr val="FFFFFF"/>
              </a:solidFill>
              <a:effectLst/>
              <a:uFillTx/>
              <a:latin typeface="Arial"/>
            </a:endParaRPr>
          </a:p>
        </p:txBody>
      </p:sp>
      <p:sp>
        <p:nvSpPr>
          <p:cNvPr id="175"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Makna Matematis R²: </a:t>
            </a:r>
            <a:r>
              <a:rPr lang="en-US" sz="1150" b="0" u="none" strike="noStrike">
                <a:solidFill>
                  <a:srgbClr val="0F172A"/>
                </a:solidFill>
                <a:effectLst/>
                <a:uFillTx/>
                <a:latin typeface="Calibri"/>
              </a:rPr>
              <a:t>Mengukur proporsi variasi naik-turunnya data sensor yang berhasil dijelaskan oleh model (Rentang nilai: -∞ hingga 1.0).</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R² Mendekati 1.0 (Misal 0.92): </a:t>
            </a:r>
            <a:r>
              <a:rPr lang="en-US" sz="1150" b="0" u="none" strike="noStrike">
                <a:solidFill>
                  <a:srgbClr val="0F172A"/>
                </a:solidFill>
                <a:effectLst/>
                <a:uFillTx/>
                <a:latin typeface="Calibri"/>
              </a:rPr>
              <a:t>Model sangat presisi; 92% dinamika fluktuasi sensor berhasil diikuti oleh kurva prediksi AI.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R² = 0.0: </a:t>
            </a:r>
            <a:r>
              <a:rPr lang="en-US" sz="1150" b="0" u="none" strike="noStrike">
                <a:solidFill>
                  <a:srgbClr val="0F172A"/>
                </a:solidFill>
                <a:effectLst/>
                <a:uFillTx/>
                <a:latin typeface="Calibri"/>
              </a:rPr>
              <a:t>Model tidak lebih pintar daripada sekadar menebak garis lurus nilai rata-rata (Mean) sepanjang waktu.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R² Negatif (&lt; 0): </a:t>
            </a:r>
            <a:r>
              <a:rPr lang="en-US" sz="1150" b="0" u="none" strike="noStrike">
                <a:solidFill>
                  <a:srgbClr val="0F172A"/>
                </a:solidFill>
                <a:effectLst/>
                <a:uFillTx/>
                <a:latin typeface="Calibri"/>
              </a:rPr>
              <a:t>Model gagal total; garis prediksinya bahkan lebih buruk daripada menebak rata-rata kasar.</a:t>
            </a:r>
            <a:endParaRPr lang="en-US" sz="1150" b="0" u="none" strike="noStrike">
              <a:solidFill>
                <a:srgbClr val="000000"/>
              </a:solidFill>
              <a:effectLst/>
              <a:uFillTx/>
              <a:latin typeface="Arial"/>
            </a:endParaRPr>
          </a:p>
        </p:txBody>
      </p:sp>
      <p:sp>
        <p:nvSpPr>
          <p:cNvPr id="176" name="Rectangle 13"/>
          <p:cNvSpPr/>
          <p:nvPr/>
        </p:nvSpPr>
        <p:spPr>
          <a:xfrm>
            <a:off x="731520" y="5523120"/>
            <a:ext cx="10725480" cy="69444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TARGETOPTIMASI ENGINEER: </a:t>
            </a:r>
            <a:r>
              <a:rPr lang="en-US" sz="1150" b="0" u="none" strike="noStrike">
                <a:solidFill>
                  <a:srgbClr val="0F172A"/>
                </a:solidFill>
                <a:effectLst/>
                <a:uFillTx/>
                <a:latin typeface="Calibri"/>
              </a:rPr>
              <a:t>Model Forecasting yang baik memiliki nilai MAE dan RMSE mendekati 0.0, serta nilai R² mendekati 1.0 pada pengujian Testing Set.</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BEDAH MATEMATIKA LANGKAH DEMI LANGKAH</a:t>
            </a:r>
            <a:endParaRPr lang="en-US" sz="1100" b="0" u="none" strike="noStrike">
              <a:solidFill>
                <a:srgbClr val="000000"/>
              </a:solidFill>
              <a:effectLst/>
              <a:uFillTx/>
              <a:latin typeface="Arial"/>
            </a:endParaRPr>
          </a:p>
        </p:txBody>
      </p:sp>
      <p:sp>
        <p:nvSpPr>
          <p:cNvPr id="179"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Contoh Perhitungan Manual Metrik MAE, MSE, dan RMSE</a:t>
            </a:r>
            <a:endParaRPr lang="en-US" sz="2200" b="0" u="none" strike="noStrike">
              <a:solidFill>
                <a:srgbClr val="000000"/>
              </a:solidFill>
              <a:effectLst/>
              <a:uFillTx/>
              <a:latin typeface="Arial"/>
            </a:endParaRPr>
          </a:p>
        </p:txBody>
      </p:sp>
      <p:sp>
        <p:nvSpPr>
          <p:cNvPr id="180"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Simulasi evaluasi ramalan suhu Smart Greenhouse pada 3 titik waktu pengujian (n = 3 sampel).</a:t>
            </a:r>
            <a:endParaRPr lang="en-US" sz="1300" b="0" u="none" strike="noStrike">
              <a:solidFill>
                <a:srgbClr val="000000"/>
              </a:solidFill>
              <a:effectLst/>
              <a:uFillTx/>
              <a:latin typeface="Arial"/>
            </a:endParaRPr>
          </a:p>
        </p:txBody>
      </p:sp>
      <p:sp>
        <p:nvSpPr>
          <p:cNvPr id="181"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82"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83"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10</a:t>
            </a:r>
            <a:endParaRPr lang="en-US" sz="1000" b="0" u="none" strike="noStrike">
              <a:solidFill>
                <a:srgbClr val="000000"/>
              </a:solidFill>
              <a:effectLst/>
              <a:uFillTx/>
              <a:latin typeface="Arial"/>
            </a:endParaRPr>
          </a:p>
        </p:txBody>
      </p:sp>
      <p:graphicFrame>
        <p:nvGraphicFramePr>
          <p:cNvPr id="184" name="Table 7"/>
          <p:cNvGraphicFramePr/>
          <p:nvPr/>
        </p:nvGraphicFramePr>
        <p:xfrm>
          <a:off x="731520" y="1536120"/>
          <a:ext cx="10725480" cy="3748680"/>
        </p:xfrm>
        <a:graphic>
          <a:graphicData uri="http://schemas.openxmlformats.org/drawingml/2006/table">
            <a:tbl>
              <a:tblPr/>
              <a:tblGrid>
                <a:gridCol w="1828800"/>
                <a:gridCol w="2011680"/>
                <a:gridCol w="2148840"/>
                <a:gridCol w="2286000"/>
                <a:gridCol w="2450520"/>
              </a:tblGrid>
              <a:tr h="749520">
                <a:tc>
                  <a:txBody>
                    <a:bodyPr anchor="ctr">
                      <a:noAutofit/>
                    </a:bodyPr>
                    <a:p>
                      <a:pPr defTabSz="457200">
                        <a:lnSpc>
                          <a:spcPct val="100000"/>
                        </a:lnSpc>
                      </a:pPr>
                      <a:r>
                        <a:rPr lang="en-US" sz="1150" b="1" u="none" strike="noStrike">
                          <a:solidFill>
                            <a:srgbClr val="FFFFFF"/>
                          </a:solidFill>
                          <a:effectLst/>
                          <a:uFillTx/>
                          <a:latin typeface="Calibri"/>
                        </a:rPr>
                        <a:t>Waktu Uji (t)</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Suhu Aktual Sensor (y_i)</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Ramalan Model AI (ŷ_i)</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Selisih Mutlak |y_i - ŷ_i|</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Galat Kuadrat (y_i - ŷ_i)²</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749520">
                <a:tc>
                  <a:txBody>
                    <a:bodyPr anchor="ctr">
                      <a:noAutofit/>
                    </a:bodyPr>
                    <a:p>
                      <a:pPr defTabSz="457200">
                        <a:lnSpc>
                          <a:spcPct val="100000"/>
                        </a:lnSpc>
                      </a:pPr>
                      <a:r>
                        <a:rPr lang="en-US" sz="1100" b="1" u="none" strike="noStrike">
                          <a:solidFill>
                            <a:srgbClr val="0F172A"/>
                          </a:solidFill>
                          <a:effectLst/>
                          <a:uFillTx/>
                          <a:latin typeface="Calibri"/>
                        </a:rPr>
                        <a:t>Pukul 13:00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30.0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29.0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|30.0 - 29.0| = 1.0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(+1.0)² = 1.00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749520">
                <a:tc>
                  <a:txBody>
                    <a:bodyPr anchor="ctr">
                      <a:noAutofit/>
                    </a:bodyPr>
                    <a:p>
                      <a:pPr defTabSz="457200">
                        <a:lnSpc>
                          <a:spcPct val="100000"/>
                        </a:lnSpc>
                      </a:pPr>
                      <a:r>
                        <a:rPr lang="en-US" sz="1100" b="1" u="none" strike="noStrike">
                          <a:solidFill>
                            <a:srgbClr val="0F172A"/>
                          </a:solidFill>
                          <a:effectLst/>
                          <a:uFillTx/>
                          <a:latin typeface="Calibri"/>
                        </a:rPr>
                        <a:t>Pukul 14:00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32.0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32.0 °C (Tepat!)</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|32.0 - 32.0| = 0.0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(0.0)² = 0.00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anchor="ctr">
                      <a:noAutofit/>
                    </a:bodyPr>
                    <a:p>
                      <a:pPr defTabSz="457200">
                        <a:lnSpc>
                          <a:spcPct val="100000"/>
                        </a:lnSpc>
                      </a:pPr>
                      <a:r>
                        <a:rPr lang="en-US" sz="1100" b="1" u="none" strike="noStrike">
                          <a:solidFill>
                            <a:srgbClr val="0F172A"/>
                          </a:solidFill>
                          <a:effectLst/>
                          <a:uFillTx/>
                          <a:latin typeface="Calibri"/>
                        </a:rPr>
                        <a:t>Pukul 15:00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31.0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33.0 °C (Meleset 2°C)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|31.0 - 33.0| = 2.0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(-2.0)² = 4.00</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749520">
                <a:tc>
                  <a:txBody>
                    <a:bodyPr anchor="ctr">
                      <a:noAutofit/>
                    </a:bodyPr>
                    <a:p>
                      <a:pPr defTabSz="457200">
                        <a:lnSpc>
                          <a:spcPct val="100000"/>
                        </a:lnSpc>
                      </a:pPr>
                      <a:r>
                        <a:rPr lang="en-US" sz="1100" b="1" u="none" strike="noStrike">
                          <a:solidFill>
                            <a:srgbClr val="0F172A"/>
                          </a:solidFill>
                          <a:effectLst/>
                          <a:uFillTx/>
                          <a:latin typeface="Calibri"/>
                        </a:rPr>
                        <a:t>TOTAL &amp; METRIK</a:t>
                      </a:r>
                      <a:br>
                        <a:rPr sz="1100"/>
                      </a:br>
                      <a:r>
                        <a:rPr lang="en-US" sz="1100" b="1" u="none" strike="noStrike">
                          <a:solidFill>
                            <a:srgbClr val="0F172A"/>
                          </a:solidFill>
                          <a:effectLst/>
                          <a:uFillTx/>
                          <a:latin typeface="Calibri"/>
                        </a:rPr>
                        <a:t>(n = 3 Sampel)</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Rata-rata Aktual:</a:t>
                      </a:r>
                      <a:br>
                        <a:rPr sz="1100"/>
                      </a:br>
                      <a:r>
                        <a:rPr lang="en-US" sz="1100" b="0" u="none" strike="noStrike">
                          <a:solidFill>
                            <a:srgbClr val="0F172A"/>
                          </a:solidFill>
                          <a:effectLst/>
                          <a:uFillTx/>
                          <a:latin typeface="Calibri"/>
                        </a:rPr>
                        <a:t>ȳ = 31.0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Rata-rata Prediksi:</a:t>
                      </a:r>
                      <a:br>
                        <a:rPr sz="1100"/>
                      </a:br>
                      <a:r>
                        <a:rPr lang="en-US" sz="1100" b="0" u="none" strike="noStrike">
                          <a:solidFill>
                            <a:srgbClr val="0F172A"/>
                          </a:solidFill>
                          <a:effectLst/>
                          <a:uFillTx/>
                          <a:latin typeface="Calibri"/>
                        </a:rPr>
                        <a:t>31.33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Jumlah = 3.0 °C</a:t>
                      </a:r>
                      <a:br>
                        <a:rPr sz="1100"/>
                      </a:br>
                      <a:r>
                        <a:rPr lang="en-US" sz="1100" b="0" u="none" strike="noStrike">
                          <a:solidFill>
                            <a:srgbClr val="0F172A"/>
                          </a:solidFill>
                          <a:effectLst/>
                          <a:uFillTx/>
                          <a:latin typeface="Calibri"/>
                        </a:rPr>
                        <a:t>➔ MAE = 3.0 / 3 = 1.00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Jumlah Kuadrat = 5.00</a:t>
                      </a:r>
                      <a:br>
                        <a:rPr sz="1100"/>
                      </a:br>
                      <a:r>
                        <a:rPr lang="en-US" sz="1100" b="0" u="none" strike="noStrike">
                          <a:solidFill>
                            <a:srgbClr val="0F172A"/>
                          </a:solidFill>
                          <a:effectLst/>
                          <a:uFillTx/>
                          <a:latin typeface="Calibri"/>
                        </a:rPr>
                        <a:t>➔ MSE = 5.00 / 3 = 1.67</a:t>
                      </a:r>
                      <a:br>
                        <a:rPr sz="1100"/>
                      </a:br>
                      <a:r>
                        <a:rPr lang="en-US" sz="1100" b="0" u="none" strike="noStrike">
                          <a:solidFill>
                            <a:srgbClr val="0F172A"/>
                          </a:solidFill>
                          <a:effectLst/>
                          <a:uFillTx/>
                          <a:latin typeface="Calibri"/>
                        </a:rPr>
                        <a:t>➔ RMSE = √1.67 = 1.29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85" name="Rectangle 8"/>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 name="TextBox 9"/>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MENGAPA RMSE (1.29°C) LEBIH BESAR DARI MAE (1.00°C)?: </a:t>
            </a:r>
            <a:r>
              <a:rPr lang="en-US" sz="1150" b="0" u="none" strike="noStrike">
                <a:solidFill>
                  <a:srgbClr val="0F172A"/>
                </a:solidFill>
                <a:effectLst/>
                <a:uFillTx/>
                <a:latin typeface="Calibri"/>
              </a:rPr>
              <a:t>Karena pada pukul 15:00 terdapat kesalahan tebakan sebesar 2.0°C yang ketika dikuadratkan menjadi 4.00! Jika sistem Anda tidak menoleransi meleset ekstrem sesaat, gunakan RMSE sebagai acuan utama.</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DETEKSI ANOMALI TINGKAT LANJUT (UNSUPERVISED)</a:t>
            </a:r>
            <a:endParaRPr lang="en-US" sz="1100" b="0" u="none" strike="noStrike">
              <a:solidFill>
                <a:srgbClr val="000000"/>
              </a:solidFill>
              <a:effectLst/>
              <a:uFillTx/>
              <a:latin typeface="Arial"/>
            </a:endParaRPr>
          </a:p>
        </p:txBody>
      </p:sp>
      <p:sp>
        <p:nvSpPr>
          <p:cNvPr id="188"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Mengapa Z-Score &amp; IQR Gagal Menangkap Anomali Multivariat?</a:t>
            </a:r>
            <a:endParaRPr lang="en-US" sz="2200" b="0" u="none" strike="noStrike">
              <a:solidFill>
                <a:srgbClr val="000000"/>
              </a:solidFill>
              <a:effectLst/>
              <a:uFillTx/>
              <a:latin typeface="Arial"/>
            </a:endParaRPr>
          </a:p>
        </p:txBody>
      </p:sp>
      <p:sp>
        <p:nvSpPr>
          <p:cNvPr id="189"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Memahami titik buta statistik satu dimensi (Univariat) pada ekosistem sensor yang saling terikat.</a:t>
            </a:r>
            <a:endParaRPr lang="en-US" sz="1300" b="0" u="none" strike="noStrike">
              <a:solidFill>
                <a:srgbClr val="000000"/>
              </a:solidFill>
              <a:effectLst/>
              <a:uFillTx/>
              <a:latin typeface="Arial"/>
            </a:endParaRPr>
          </a:p>
        </p:txBody>
      </p:sp>
      <p:sp>
        <p:nvSpPr>
          <p:cNvPr id="190"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91"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192"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11</a:t>
            </a:r>
            <a:endParaRPr lang="en-US" sz="1000" b="0" u="none" strike="noStrike">
              <a:solidFill>
                <a:srgbClr val="000000"/>
              </a:solidFill>
              <a:effectLst/>
              <a:uFillTx/>
              <a:latin typeface="Arial"/>
            </a:endParaRPr>
          </a:p>
        </p:txBody>
      </p:sp>
      <p:sp>
        <p:nvSpPr>
          <p:cNvPr id="193"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4"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TITIK BUTA METODE UNIVARIAT (PEKAN 6)</a:t>
            </a:r>
            <a:endParaRPr lang="en-US" sz="1200" b="0" u="none" strike="noStrike">
              <a:solidFill>
                <a:srgbClr val="FFFFFF"/>
              </a:solidFill>
              <a:effectLst/>
              <a:uFillTx/>
              <a:latin typeface="Arial"/>
            </a:endParaRPr>
          </a:p>
        </p:txBody>
      </p:sp>
      <p:sp>
        <p:nvSpPr>
          <p:cNvPr id="195"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Pemeriksaan Kolom Tunggal Terpisah: </a:t>
            </a:r>
            <a:r>
              <a:rPr lang="en-US" sz="1150" b="0" u="none" strike="noStrike">
                <a:solidFill>
                  <a:srgbClr val="0F172A"/>
                </a:solidFill>
                <a:effectLst/>
                <a:uFillTx/>
                <a:latin typeface="Calibri"/>
              </a:rPr>
              <a:t>Metode Z-Score (|Z| &gt; 3) dan IQR (Q1 - 1.5×IQR s.d. Q3 + 1.5×IQR) hanya menguji satu kolom sensor pada satu waktu tanpa melihat kolom lainnya.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Mengabaikan Hukum Korelasi Fisika: </a:t>
            </a:r>
            <a:r>
              <a:rPr lang="en-US" sz="1150" b="0" u="none" strike="noStrike">
                <a:solidFill>
                  <a:srgbClr val="0F172A"/>
                </a:solidFill>
                <a:effectLst/>
                <a:uFillTx/>
                <a:latin typeface="Calibri"/>
              </a:rPr>
              <a:t>Di alam nyata, suhu udara, kelembaban relatif (RH), radiasi cahaya, dan pH tanah bergerak saling mengikat sesuai hukum termodinamika.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Kegagalan Deteksi Silang: </a:t>
            </a:r>
            <a:r>
              <a:rPr lang="en-US" sz="1150" b="0" u="none" strike="noStrike">
                <a:solidFill>
                  <a:srgbClr val="0F172A"/>
                </a:solidFill>
                <a:effectLst/>
                <a:uFillTx/>
                <a:latin typeface="Calibri"/>
              </a:rPr>
              <a:t>Anomali sering kali bukan berupa angka ekstrem tunggal, melainkan putusnya hubungan wajar antar-sensor!</a:t>
            </a:r>
            <a:endParaRPr lang="en-US" sz="1150" b="0" u="none" strike="noStrike">
              <a:solidFill>
                <a:srgbClr val="000000"/>
              </a:solidFill>
              <a:effectLst/>
              <a:uFillTx/>
              <a:latin typeface="Arial"/>
            </a:endParaRPr>
          </a:p>
        </p:txBody>
      </p:sp>
      <p:sp>
        <p:nvSpPr>
          <p:cNvPr id="196"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7"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CONTOH NYATA ANOMALI MULTIVARIAT DI LAPANGAN</a:t>
            </a:r>
            <a:endParaRPr lang="en-US" sz="1200" b="0" u="none" strike="noStrike">
              <a:solidFill>
                <a:srgbClr val="FFFFFF"/>
              </a:solidFill>
              <a:effectLst/>
              <a:uFillTx/>
              <a:latin typeface="Arial"/>
            </a:endParaRPr>
          </a:p>
        </p:txBody>
      </p:sp>
      <p:sp>
        <p:nvSpPr>
          <p:cNvPr id="198"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Batas Valid IQR Sensor Suhu: </a:t>
            </a:r>
            <a:r>
              <a:rPr lang="en-US" sz="1150" b="0" u="none" strike="noStrike">
                <a:solidFill>
                  <a:srgbClr val="0F172A"/>
                </a:solidFill>
                <a:effectLst/>
                <a:uFillTx/>
                <a:latin typeface="Calibri"/>
              </a:rPr>
              <a:t>20.0°C s.d. 35.0°C  ➔ Bacaan 22.0°C dianggap 100% NORMAL oleh filter IQR Suhu.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Batas Valid IQR Sensor Kelembaban: </a:t>
            </a:r>
            <a:r>
              <a:rPr lang="en-US" sz="1150" b="0" u="none" strike="noStrike">
                <a:solidFill>
                  <a:srgbClr val="0F172A"/>
                </a:solidFill>
                <a:effectLst/>
                <a:uFillTx/>
                <a:latin typeface="Calibri"/>
              </a:rPr>
              <a:t>40.0% s.d. 85.0%  ➔ Bacaan 42.0% dianggap 100% NORMAL oleh filter IQR Kelembaban.</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Mengapa Kombinasi [22.0°C &amp; 42.0%] Berbahaya?: </a:t>
            </a:r>
            <a:r>
              <a:rPr lang="en-US" sz="1150" b="0" u="none" strike="noStrike">
                <a:solidFill>
                  <a:srgbClr val="0F172A"/>
                </a:solidFill>
                <a:effectLst/>
                <a:uFillTx/>
                <a:latin typeface="Calibri"/>
              </a:rPr>
              <a:t>Secara fisika di iklim tropis, saat udara dingin 22.0°C (malam/hujan), kelembaban udara normalnya 70%–85%! Udara dingin 22°C yang kering 42% menandakan kebocoran blower pemanas/AC yang merusak tanaman!</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Vonis Filter Lama vs AI: </a:t>
            </a:r>
            <a:r>
              <a:rPr lang="en-US" sz="1150" b="0" u="none" strike="noStrike">
                <a:solidFill>
                  <a:srgbClr val="0F172A"/>
                </a:solidFill>
                <a:effectLst/>
                <a:uFillTx/>
                <a:latin typeface="Calibri"/>
              </a:rPr>
              <a:t>Z-Score &amp; IQR gagal mendeteksi (lolos), sedangkan Isolation Forest langsung membunyikan alarm!</a:t>
            </a:r>
            <a:endParaRPr lang="en-US" sz="1150" b="0" u="none" strike="noStrike">
              <a:solidFill>
                <a:srgbClr val="000000"/>
              </a:solidFill>
              <a:effectLst/>
              <a:uFillTx/>
              <a:latin typeface="Arial"/>
            </a:endParaRPr>
          </a:p>
        </p:txBody>
      </p:sp>
      <p:sp>
        <p:nvSpPr>
          <p:cNvPr id="199"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ESENSI ANOMALI MULTIDIMENSI: </a:t>
            </a:r>
            <a:r>
              <a:rPr lang="en-US" sz="1150" b="0" u="none" strike="noStrike">
                <a:solidFill>
                  <a:srgbClr val="0F172A"/>
                </a:solidFill>
                <a:effectLst/>
                <a:uFillTx/>
                <a:latin typeface="Calibri"/>
              </a:rPr>
              <a:t>Sebuah titik data dapat terlihat normal pada sumbu X dan normal pada sumbu Y secara terpisah, namun menjadi pencilan mencolok saat dipetakan pada bidang koordinat (X, Y)!</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ALGORITMA UNSUPERVISED MACHINE LEARNING</a:t>
            </a:r>
            <a:endParaRPr lang="en-US" sz="1100" b="0" u="none" strike="noStrike">
              <a:solidFill>
                <a:srgbClr val="000000"/>
              </a:solidFill>
              <a:effectLst/>
              <a:uFillTx/>
              <a:latin typeface="Arial"/>
            </a:endParaRPr>
          </a:p>
        </p:txBody>
      </p:sp>
      <p:sp>
        <p:nvSpPr>
          <p:cNvPr id="202"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Bedah Cara Kerja Algoritma Isolation Forest</a:t>
            </a:r>
            <a:endParaRPr lang="en-US" sz="2200" b="0" u="none" strike="noStrike">
              <a:solidFill>
                <a:srgbClr val="000000"/>
              </a:solidFill>
              <a:effectLst/>
              <a:uFillTx/>
              <a:latin typeface="Arial"/>
            </a:endParaRPr>
          </a:p>
        </p:txBody>
      </p:sp>
      <p:sp>
        <p:nvSpPr>
          <p:cNvPr id="203"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Mengisolasi anomali multidimensi secara efisien menggunakan hutan pohon partisi acak (iTrees).</a:t>
            </a:r>
            <a:endParaRPr lang="en-US" sz="1300" b="0" u="none" strike="noStrike">
              <a:solidFill>
                <a:srgbClr val="000000"/>
              </a:solidFill>
              <a:effectLst/>
              <a:uFillTx/>
              <a:latin typeface="Arial"/>
            </a:endParaRPr>
          </a:p>
        </p:txBody>
      </p:sp>
      <p:sp>
        <p:nvSpPr>
          <p:cNvPr id="204"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05"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06"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12</a:t>
            </a:r>
            <a:endParaRPr lang="en-US" sz="1000" b="0" u="none" strike="noStrike">
              <a:solidFill>
                <a:srgbClr val="000000"/>
              </a:solidFill>
              <a:effectLst/>
              <a:uFillTx/>
              <a:latin typeface="Arial"/>
            </a:endParaRPr>
          </a:p>
        </p:txBody>
      </p:sp>
      <p:sp>
        <p:nvSpPr>
          <p:cNvPr id="207"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8"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PRINSIP KERJA ISOLATION FOREST (LIU ET AL., 2008)</a:t>
            </a:r>
            <a:endParaRPr lang="en-US" sz="1200" b="0" u="none" strike="noStrike">
              <a:solidFill>
                <a:srgbClr val="FFFFFF"/>
              </a:solidFill>
              <a:effectLst/>
              <a:uFillTx/>
              <a:latin typeface="Arial"/>
            </a:endParaRPr>
          </a:p>
        </p:txBody>
      </p:sp>
      <p:sp>
        <p:nvSpPr>
          <p:cNvPr id="209"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Paradigma Baru: Isolasi, Bukan Profil Kepadatan: </a:t>
            </a:r>
            <a:r>
              <a:rPr lang="en-US" sz="1150" b="0" u="none" strike="noStrike">
                <a:solidFill>
                  <a:srgbClr val="0F172A"/>
                </a:solidFill>
                <a:effectLst/>
                <a:uFillTx/>
                <a:latin typeface="Calibri"/>
              </a:rPr>
              <a:t>Sebagian besar algoritma lama berusaha mempelajari bentuk data normal lalu mencari yang menyimpang. Isolation Forest bekerja terbalik: langsung berusaha MENGISOLASI titik yang terpencil!</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Mekanisme Tebasan Acak (Random Partitioning): </a:t>
            </a:r>
            <a:r>
              <a:rPr lang="en-US" sz="1150" b="0" u="none" strike="noStrike">
                <a:solidFill>
                  <a:srgbClr val="0F172A"/>
                </a:solidFill>
                <a:effectLst/>
                <a:uFillTx/>
                <a:latin typeface="Calibri"/>
              </a:rPr>
              <a:t>Algoritma membangun ratusan pohon keputusan (iTrees) dengan memilih fitur sensor secara acak (misal Suhu atau pH) lalu memotongnya pada nilai ambang acak.</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Tanpa Butuh Label (Unsupervised): </a:t>
            </a:r>
            <a:r>
              <a:rPr lang="en-US" sz="1150" b="0" u="none" strike="noStrike">
                <a:solidFill>
                  <a:srgbClr val="0F172A"/>
                </a:solidFill>
                <a:effectLst/>
                <a:uFillTx/>
                <a:latin typeface="Calibri"/>
              </a:rPr>
              <a:t>Tidak memerlukan kolom label 'Normal/Rusak' dari manusia; bekerja langsung pada matriks sensor mentah yang sudah bersih.</a:t>
            </a:r>
            <a:endParaRPr lang="en-US" sz="1150" b="0" u="none" strike="noStrike">
              <a:solidFill>
                <a:srgbClr val="000000"/>
              </a:solidFill>
              <a:effectLst/>
              <a:uFillTx/>
              <a:latin typeface="Arial"/>
            </a:endParaRPr>
          </a:p>
        </p:txBody>
      </p:sp>
      <p:sp>
        <p:nvSpPr>
          <p:cNvPr id="210" name="Rectangle 10"/>
          <p:cNvSpPr/>
          <p:nvPr/>
        </p:nvSpPr>
        <p:spPr>
          <a:xfrm>
            <a:off x="6254640" y="1517760"/>
            <a:ext cx="5202720" cy="385848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PANJANG JALUR POHON: ANOMALI VS NORMAL</a:t>
            </a:r>
            <a:endParaRPr lang="en-US" sz="1200" b="0" u="none" strike="noStrike">
              <a:solidFill>
                <a:srgbClr val="FFFFFF"/>
              </a:solidFill>
              <a:effectLst/>
              <a:uFillTx/>
              <a:latin typeface="Arial"/>
            </a:endParaRPr>
          </a:p>
        </p:txBody>
      </p:sp>
      <p:sp>
        <p:nvSpPr>
          <p:cNvPr id="212"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Titik Anomali (Outlier — Jalur Pendek): </a:t>
            </a:r>
            <a:r>
              <a:rPr lang="en-US" sz="1150" b="0" u="none" strike="noStrike">
                <a:solidFill>
                  <a:srgbClr val="0F172A"/>
                </a:solidFill>
                <a:effectLst/>
                <a:uFillTx/>
                <a:latin typeface="Calibri"/>
              </a:rPr>
              <a:t>Karena terletak jauh sendirian di luar kerumunan utama, titik anomali langsung terpisah sendirian hanya dengan 1 atau 2 kali tebasan garis pemotong! (Path length h(x) sangat pendek).</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Titik Normal (Inlier — Jalur Panjang): </a:t>
            </a:r>
            <a:r>
              <a:rPr lang="en-US" sz="1150" b="0" u="none" strike="noStrike">
                <a:solidFill>
                  <a:srgbClr val="0F172A"/>
                </a:solidFill>
                <a:effectLst/>
                <a:uFillTx/>
                <a:latin typeface="Calibri"/>
              </a:rPr>
              <a:t>Karena berkumpul padat di tengah gerombolan data sehat, dibutuhkan belasan kali tebasan garis acak sampai satu titik normal terpisah sendirian.</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Konvensi Output Scikit-Learn: </a:t>
            </a:r>
            <a:r>
              <a:rPr lang="en-US" sz="1150" b="0" u="none" strike="noStrike">
                <a:solidFill>
                  <a:srgbClr val="0F172A"/>
                </a:solidFill>
                <a:effectLst/>
                <a:uFillTx/>
                <a:latin typeface="Calibri"/>
              </a:rPr>
              <a:t>Fungsi model.fit_predict(df) menghasilkan angka +1 untuk Data Normal (Aman) dan angka -1 untuk Data Anomali (Bahaya!).</a:t>
            </a:r>
            <a:endParaRPr lang="en-US" sz="1150" b="0" u="none" strike="noStrike">
              <a:solidFill>
                <a:srgbClr val="000000"/>
              </a:solidFill>
              <a:effectLst/>
              <a:uFillTx/>
              <a:latin typeface="Arial"/>
            </a:endParaRPr>
          </a:p>
        </p:txBody>
      </p:sp>
      <p:sp>
        <p:nvSpPr>
          <p:cNvPr id="213"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4"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PARAMETER CONTAMINATION PADA SCIKIT-LEARN: </a:t>
            </a:r>
            <a:r>
              <a:rPr lang="en-US" sz="1150" b="0" u="none" strike="noStrike">
                <a:solidFill>
                  <a:srgbClr val="0F172A"/>
                </a:solidFill>
                <a:effectLst/>
                <a:uFillTx/>
                <a:latin typeface="Calibri"/>
              </a:rPr>
              <a:t>Parameter IsolationForest(contamination=0.02) mengatur sensitivitas batas keputusan dengan mengasumsikan sekitar 2% dari data historis merupakan anomali.</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IMPLEMENTASI NYATA DI INDUSTRI PERTANIAN</a:t>
            </a:r>
            <a:endParaRPr lang="en-US" sz="1100" b="0" u="none" strike="noStrike">
              <a:solidFill>
                <a:srgbClr val="000000"/>
              </a:solidFill>
              <a:effectLst/>
              <a:uFillTx/>
              <a:latin typeface="Arial"/>
            </a:endParaRPr>
          </a:p>
        </p:txBody>
      </p:sp>
      <p:sp>
        <p:nvSpPr>
          <p:cNvPr id="216"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Studi Kasus Industri: Predictive Maintenance &amp; Smart Farming</a:t>
            </a:r>
            <a:endParaRPr lang="en-US" sz="2200" b="0" u="none" strike="noStrike">
              <a:solidFill>
                <a:srgbClr val="000000"/>
              </a:solidFill>
              <a:effectLst/>
              <a:uFillTx/>
              <a:latin typeface="Arial"/>
            </a:endParaRPr>
          </a:p>
        </p:txBody>
      </p:sp>
      <p:sp>
        <p:nvSpPr>
          <p:cNvPr id="217"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Transformasi nilai ekonomi dari sekadar pemantauan pasif menuju pencegahan kerugian proaktif.</a:t>
            </a:r>
            <a:endParaRPr lang="en-US" sz="1300" b="0" u="none" strike="noStrike">
              <a:solidFill>
                <a:srgbClr val="000000"/>
              </a:solidFill>
              <a:effectLst/>
              <a:uFillTx/>
              <a:latin typeface="Arial"/>
            </a:endParaRPr>
          </a:p>
        </p:txBody>
      </p:sp>
      <p:sp>
        <p:nvSpPr>
          <p:cNvPr id="218"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19"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20"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13</a:t>
            </a:r>
            <a:endParaRPr lang="en-US" sz="1000" b="0" u="none" strike="noStrike">
              <a:solidFill>
                <a:srgbClr val="000000"/>
              </a:solidFill>
              <a:effectLst/>
              <a:uFillTx/>
              <a:latin typeface="Arial"/>
            </a:endParaRPr>
          </a:p>
        </p:txBody>
      </p:sp>
      <p:sp>
        <p:nvSpPr>
          <p:cNvPr id="221"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2"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KASUS 1: PREDICTIVE MAINTENANCE TRAKTOR &amp; POMPA</a:t>
            </a:r>
            <a:endParaRPr lang="en-US" sz="1200" b="0" u="none" strike="noStrike">
              <a:solidFill>
                <a:srgbClr val="FFFFFF"/>
              </a:solidFill>
              <a:effectLst/>
              <a:uFillTx/>
              <a:latin typeface="Arial"/>
            </a:endParaRPr>
          </a:p>
        </p:txBody>
      </p:sp>
      <p:sp>
        <p:nvSpPr>
          <p:cNvPr id="223"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Masalah Operasional: </a:t>
            </a:r>
            <a:r>
              <a:rPr lang="en-US" sz="1150" b="0" u="none" strike="noStrike">
                <a:solidFill>
                  <a:srgbClr val="0F172A"/>
                </a:solidFill>
                <a:effectLst/>
                <a:uFillTx/>
                <a:latin typeface="Calibri"/>
              </a:rPr>
              <a:t>Roda gigi transmisi traktor otonom atau pompa irigasi utama yang patah mendadak di tengah masa panen/kemarau menimbulkan kerugian ratusan juta rupiah.</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Akuisisi Sensor Multivariat: </a:t>
            </a:r>
            <a:r>
              <a:rPr lang="en-US" sz="1150" b="0" u="none" strike="noStrike">
                <a:solidFill>
                  <a:srgbClr val="0F172A"/>
                </a:solidFill>
                <a:effectLst/>
                <a:uFillTx/>
                <a:latin typeface="Calibri"/>
              </a:rPr>
              <a:t>Sensor getaran (akselerometer), arus motor (Ampere), dan suhu oli dipantau kontinu setiap detik.</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Peran Machine Learning: </a:t>
            </a:r>
            <a:r>
              <a:rPr lang="en-US" sz="1150" b="0" u="none" strike="noStrike">
                <a:solidFill>
                  <a:srgbClr val="0F172A"/>
                </a:solidFill>
                <a:effectLst/>
                <a:uFillTx/>
                <a:latin typeface="Calibri"/>
              </a:rPr>
              <a:t>Model klasifikasi/anomali mengenali perubahan pola mikro-vibrasi 3 hari sebelum logam mengalami retak lelah (fatigue fracture).</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Actionable Insight: </a:t>
            </a:r>
            <a:r>
              <a:rPr lang="en-US" sz="1150" b="0" u="none" strike="noStrike">
                <a:solidFill>
                  <a:srgbClr val="0F172A"/>
                </a:solidFill>
                <a:effectLst/>
                <a:uFillTx/>
                <a:latin typeface="Calibri"/>
              </a:rPr>
              <a:t>Notifikasi otomatis: 'Probabilitas 87% bearing pompa aus dalam 72 jam, segera jadwalkan servis sebelum rusak total.'</a:t>
            </a:r>
            <a:endParaRPr lang="en-US" sz="1150" b="0" u="none" strike="noStrike">
              <a:solidFill>
                <a:srgbClr val="000000"/>
              </a:solidFill>
              <a:effectLst/>
              <a:uFillTx/>
              <a:latin typeface="Arial"/>
            </a:endParaRPr>
          </a:p>
        </p:txBody>
      </p:sp>
      <p:sp>
        <p:nvSpPr>
          <p:cNvPr id="224"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5"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KASUS 2: DETEKSI MALFUNGSI FERTIGASI HIDROPONIK</a:t>
            </a:r>
            <a:endParaRPr lang="en-US" sz="1200" b="0" u="none" strike="noStrike">
              <a:solidFill>
                <a:srgbClr val="FFFFFF"/>
              </a:solidFill>
              <a:effectLst/>
              <a:uFillTx/>
              <a:latin typeface="Arial"/>
            </a:endParaRPr>
          </a:p>
        </p:txBody>
      </p:sp>
      <p:sp>
        <p:nvSpPr>
          <p:cNvPr id="226"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Masalah Operasional: </a:t>
            </a:r>
            <a:r>
              <a:rPr lang="en-US" sz="1150" b="0" u="none" strike="noStrike">
                <a:solidFill>
                  <a:srgbClr val="0F172A"/>
                </a:solidFill>
                <a:effectLst/>
                <a:uFillTx/>
                <a:latin typeface="Calibri"/>
              </a:rPr>
              <a:t>Pompa pendosis nutrisi AB-Mix macet sebagian sehingga kepekatan pupuk (EC) melonjak sementara pH air turun drastis di siang hari terik.</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Kelemahan Alarm Konvensional: </a:t>
            </a:r>
            <a:r>
              <a:rPr lang="en-US" sz="1150" b="0" u="none" strike="noStrike">
                <a:solidFill>
                  <a:srgbClr val="0F172A"/>
                </a:solidFill>
                <a:effectLst/>
                <a:uFillTx/>
                <a:latin typeface="Calibri"/>
              </a:rPr>
              <a:t>Alarm batas tunggal sering terlambat atau terlalu sering berbunyi palsu saat pergantian air baku.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Peran Isolation Forest: </a:t>
            </a:r>
            <a:r>
              <a:rPr lang="en-US" sz="1150" b="0" u="none" strike="noStrike">
                <a:solidFill>
                  <a:srgbClr val="0F172A"/>
                </a:solidFill>
                <a:effectLst/>
                <a:uFillTx/>
                <a:latin typeface="Calibri"/>
              </a:rPr>
              <a:t>Memantau vektor 3 dimensi [Suhu Air, pH Larutan, TDS/EC] secara serentak pada Data Pipeline Worker.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Actionable Insight: </a:t>
            </a:r>
            <a:r>
              <a:rPr lang="en-US" sz="1150" b="0" u="none" strike="noStrike">
                <a:solidFill>
                  <a:srgbClr val="0F172A"/>
                </a:solidFill>
                <a:effectLst/>
                <a:uFillTx/>
                <a:latin typeface="Calibri"/>
              </a:rPr>
              <a:t>Begitu kombinasi keluar dari klaster normal (Label = -1), katup penguras air otomatis terbuka menyelamatkan ribuan tanaman melon.</a:t>
            </a:r>
            <a:endParaRPr lang="en-US" sz="1150" b="0" u="none" strike="noStrike">
              <a:solidFill>
                <a:srgbClr val="000000"/>
              </a:solidFill>
              <a:effectLst/>
              <a:uFillTx/>
              <a:latin typeface="Arial"/>
            </a:endParaRPr>
          </a:p>
        </p:txBody>
      </p:sp>
      <p:sp>
        <p:nvSpPr>
          <p:cNvPr id="227"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8"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EVOLUSI STRATEGI PEMELIHARAAN INDUSTRI: </a:t>
            </a:r>
            <a:r>
              <a:rPr lang="en-US" sz="1150" b="0" u="none" strike="noStrike">
                <a:solidFill>
                  <a:srgbClr val="0F172A"/>
                </a:solidFill>
                <a:effectLst/>
                <a:uFillTx/>
                <a:latin typeface="Calibri"/>
              </a:rPr>
              <a:t>Reactive Maintenance (Tunggu Rusak) ➔ Preventive Maintenance (Jadwal Kalender Kaku) ➔ Predictive Maintenance berbasis Machine Learning IoT (Tepat Sasaran)!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PEMELIHARAAN MODEL AI DI LAPANGAN (MLOPS IOT)</a:t>
            </a:r>
            <a:endParaRPr lang="en-US" sz="1100" b="0" u="none" strike="noStrike">
              <a:solidFill>
                <a:srgbClr val="000000"/>
              </a:solidFill>
              <a:effectLst/>
              <a:uFillTx/>
              <a:latin typeface="Arial"/>
            </a:endParaRPr>
          </a:p>
        </p:txBody>
      </p:sp>
      <p:sp>
        <p:nvSpPr>
          <p:cNvPr id="230"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Mengapa Akurasi Model AI Menurun Setelah 6 Bulan Operasi?</a:t>
            </a:r>
            <a:endParaRPr lang="en-US" sz="2200" b="0" u="none" strike="noStrike">
              <a:solidFill>
                <a:srgbClr val="000000"/>
              </a:solidFill>
              <a:effectLst/>
              <a:uFillTx/>
              <a:latin typeface="Arial"/>
            </a:endParaRPr>
          </a:p>
        </p:txBody>
      </p:sp>
      <p:sp>
        <p:nvSpPr>
          <p:cNvPr id="231"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Membedakan degradasi perangkat keras (Sensor Drift) dari perubahan perilaku alam (Concept Drift).</a:t>
            </a:r>
            <a:endParaRPr lang="en-US" sz="1300" b="0" u="none" strike="noStrike">
              <a:solidFill>
                <a:srgbClr val="000000"/>
              </a:solidFill>
              <a:effectLst/>
              <a:uFillTx/>
              <a:latin typeface="Arial"/>
            </a:endParaRPr>
          </a:p>
        </p:txBody>
      </p:sp>
      <p:sp>
        <p:nvSpPr>
          <p:cNvPr id="232"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33"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34"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14</a:t>
            </a:r>
            <a:endParaRPr lang="en-US" sz="1000" b="0" u="none" strike="noStrike">
              <a:solidFill>
                <a:srgbClr val="000000"/>
              </a:solidFill>
              <a:effectLst/>
              <a:uFillTx/>
              <a:latin typeface="Arial"/>
            </a:endParaRPr>
          </a:p>
        </p:txBody>
      </p:sp>
      <p:sp>
        <p:nvSpPr>
          <p:cNvPr id="235"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1. SENSOR DRIFT (DEGRADASI PERANGKAT KERAS)</a:t>
            </a:r>
            <a:endParaRPr lang="en-US" sz="1200" b="0" u="none" strike="noStrike">
              <a:solidFill>
                <a:srgbClr val="FFFFFF"/>
              </a:solidFill>
              <a:effectLst/>
              <a:uFillTx/>
              <a:latin typeface="Arial"/>
            </a:endParaRPr>
          </a:p>
        </p:txBody>
      </p:sp>
      <p:sp>
        <p:nvSpPr>
          <p:cNvPr id="237"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Akar Penyebab Fisik: </a:t>
            </a:r>
            <a:r>
              <a:rPr lang="en-US" sz="1150" b="0" u="none" strike="noStrike">
                <a:solidFill>
                  <a:srgbClr val="0F172A"/>
                </a:solidFill>
                <a:effectLst/>
                <a:uFillTx/>
                <a:latin typeface="Calibri"/>
              </a:rPr>
              <a:t>Lempeng tembaga/elektroda kaca sensor yang tertanam di tanah atau kolam mengalami korosi kimiawi, penumpukan kerak mineral, atau lumut (bio-fouling).</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Dampak pada Input Model (X): </a:t>
            </a:r>
            <a:r>
              <a:rPr lang="en-US" sz="1150" b="0" u="none" strike="noStrike">
                <a:solidFill>
                  <a:srgbClr val="0F172A"/>
                </a:solidFill>
                <a:effectLst/>
                <a:uFillTx/>
                <a:latin typeface="Calibri"/>
              </a:rPr>
              <a:t>Nilai bacaan sensor bergeser perlahan secara monoton dari nilai fisik sebenarnya (misal pH asli 7.0 dikirim sebagai 8.3 ke dalam model AI).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Solusi Perbaikan: </a:t>
            </a:r>
            <a:r>
              <a:rPr lang="en-US" sz="1150" b="0" u="none" strike="noStrike">
                <a:solidFill>
                  <a:srgbClr val="0F172A"/>
                </a:solidFill>
                <a:effectLst/>
                <a:uFillTx/>
                <a:latin typeface="Calibri"/>
              </a:rPr>
              <a:t>Bukan salah algoritma AI-nya! Solusinya adalah membersihkan probe fisik, melakukan kalibrasi ulang (re-calibration) dengan larutan standar, atau mengganti sensor.</a:t>
            </a:r>
            <a:endParaRPr lang="en-US" sz="1150" b="0" u="none" strike="noStrike">
              <a:solidFill>
                <a:srgbClr val="000000"/>
              </a:solidFill>
              <a:effectLst/>
              <a:uFillTx/>
              <a:latin typeface="Arial"/>
            </a:endParaRPr>
          </a:p>
        </p:txBody>
      </p:sp>
      <p:sp>
        <p:nvSpPr>
          <p:cNvPr id="238"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2. CONCEPT DRIFT (PERUBAHAN DINAMIKA ALAM)</a:t>
            </a:r>
            <a:endParaRPr lang="en-US" sz="1200" b="0" u="none" strike="noStrike">
              <a:solidFill>
                <a:srgbClr val="FFFFFF"/>
              </a:solidFill>
              <a:effectLst/>
              <a:uFillTx/>
              <a:latin typeface="Arial"/>
            </a:endParaRPr>
          </a:p>
        </p:txBody>
      </p:sp>
      <p:sp>
        <p:nvSpPr>
          <p:cNvPr id="240"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Akar Penyebab Lingkungan: </a:t>
            </a:r>
            <a:r>
              <a:rPr lang="en-US" sz="1150" b="0" u="none" strike="noStrike">
                <a:solidFill>
                  <a:srgbClr val="0F172A"/>
                </a:solidFill>
                <a:effectLst/>
                <a:uFillTx/>
                <a:latin typeface="Calibri"/>
              </a:rPr>
              <a:t>Perangkat keras sensor masih 100% presisi, tetapi hubungan fisis di alam telah berubah dibandingkan saat model dilatih 6 bulan lalu.</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Contoh di Perkebunan: </a:t>
            </a:r>
            <a:r>
              <a:rPr lang="en-US" sz="1150" b="0" u="none" strike="noStrike">
                <a:solidFill>
                  <a:srgbClr val="0F172A"/>
                </a:solidFill>
                <a:effectLst/>
                <a:uFillTx/>
                <a:latin typeface="Calibri"/>
              </a:rPr>
              <a:t>Struktur kepadatan tanah memadat akibat dilewati traktor panen baru, pergantian musim kemarau ke La Nina ekstrem, atau pergantian varietas bibit tanaman.</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Solusi Perbaikan: </a:t>
            </a:r>
            <a:r>
              <a:rPr lang="en-US" sz="1150" b="0" u="none" strike="noStrike">
                <a:solidFill>
                  <a:srgbClr val="0F172A"/>
                </a:solidFill>
                <a:effectLst/>
                <a:uFillTx/>
                <a:latin typeface="Calibri"/>
              </a:rPr>
              <a:t>Melatih ulang (Re-training) model Machine Learning di Cloud menggunakan dataset pengamatan terbaru agar bobot rumus mengikuti kondisi baru!</a:t>
            </a:r>
            <a:endParaRPr lang="en-US" sz="1150" b="0" u="none" strike="noStrike">
              <a:solidFill>
                <a:srgbClr val="000000"/>
              </a:solidFill>
              <a:effectLst/>
              <a:uFillTx/>
              <a:latin typeface="Arial"/>
            </a:endParaRPr>
          </a:p>
        </p:txBody>
      </p:sp>
      <p:sp>
        <p:nvSpPr>
          <p:cNvPr id="241" name="Rectangle 13"/>
          <p:cNvSpPr/>
          <p:nvPr/>
        </p:nvSpPr>
        <p:spPr>
          <a:xfrm>
            <a:off x="731520" y="5523120"/>
            <a:ext cx="10725480" cy="69444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2"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PROSEDUR DIAGNOSTIK ISOLASI MASALAH: </a:t>
            </a:r>
            <a:r>
              <a:rPr lang="en-US" sz="1150" b="0" u="none" strike="noStrike">
                <a:solidFill>
                  <a:srgbClr val="0F172A"/>
                </a:solidFill>
                <a:effectLst/>
                <a:uFillTx/>
                <a:latin typeface="Calibri"/>
              </a:rPr>
              <a:t>Jika R² model anjlok dari 0.92 ke 0.45: Uji sensor fisik di laboratorium dengan larutan kalibrasi standar lebih dulu! Jika bacaan sensor di lab tetap akurat, berarti terjadi Concept Drift.</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PELUNCURAN PROYEK AKHIR (RTM TUGAS BESAR — BOBOT UAS 45%)</a:t>
            </a:r>
            <a:endParaRPr lang="en-US" sz="1100" b="0" u="none" strike="noStrike">
              <a:solidFill>
                <a:srgbClr val="000000"/>
              </a:solidFill>
              <a:effectLst/>
              <a:uFillTx/>
              <a:latin typeface="Arial"/>
            </a:endParaRPr>
          </a:p>
        </p:txBody>
      </p:sp>
      <p:sp>
        <p:nvSpPr>
          <p:cNvPr id="244"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Kick-Off Proyek Akhir: Spesifikasi Arsitektur Wajib 5 Lapis</a:t>
            </a:r>
            <a:endParaRPr lang="en-US" sz="2200" b="0" u="none" strike="noStrike">
              <a:solidFill>
                <a:srgbClr val="000000"/>
              </a:solidFill>
              <a:effectLst/>
              <a:uFillTx/>
              <a:latin typeface="Arial"/>
            </a:endParaRPr>
          </a:p>
        </p:txBody>
      </p:sp>
      <p:sp>
        <p:nvSpPr>
          <p:cNvPr id="245"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Mulai Pekan 9, setiap kelompok (maks. 3 mahasiswa) wajib menetapkan topik studi kasus End-to-End IoT Analytics.</a:t>
            </a:r>
            <a:endParaRPr lang="en-US" sz="1300" b="0" u="none" strike="noStrike">
              <a:solidFill>
                <a:srgbClr val="000000"/>
              </a:solidFill>
              <a:effectLst/>
              <a:uFillTx/>
              <a:latin typeface="Arial"/>
            </a:endParaRPr>
          </a:p>
        </p:txBody>
      </p:sp>
      <p:sp>
        <p:nvSpPr>
          <p:cNvPr id="246"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47"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48"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15</a:t>
            </a:r>
            <a:endParaRPr lang="en-US" sz="1000" b="0" u="none" strike="noStrike">
              <a:solidFill>
                <a:srgbClr val="000000"/>
              </a:solidFill>
              <a:effectLst/>
              <a:uFillTx/>
              <a:latin typeface="Arial"/>
            </a:endParaRPr>
          </a:p>
        </p:txBody>
      </p:sp>
      <p:graphicFrame>
        <p:nvGraphicFramePr>
          <p:cNvPr id="249" name="Table 7"/>
          <p:cNvGraphicFramePr/>
          <p:nvPr/>
        </p:nvGraphicFramePr>
        <p:xfrm>
          <a:off x="731520" y="1536120"/>
          <a:ext cx="10725480" cy="3748680"/>
        </p:xfrm>
        <a:graphic>
          <a:graphicData uri="http://schemas.openxmlformats.org/drawingml/2006/table">
            <a:tbl>
              <a:tblPr/>
              <a:tblGrid>
                <a:gridCol w="1005840"/>
                <a:gridCol w="2148840"/>
                <a:gridCol w="2606040"/>
                <a:gridCol w="4965120"/>
              </a:tblGrid>
              <a:tr h="624600">
                <a:tc>
                  <a:txBody>
                    <a:bodyPr anchor="ctr">
                      <a:noAutofit/>
                    </a:bodyPr>
                    <a:p>
                      <a:pPr defTabSz="457200">
                        <a:lnSpc>
                          <a:spcPct val="100000"/>
                        </a:lnSpc>
                      </a:pPr>
                      <a:r>
                        <a:rPr lang="en-US" sz="1150" b="1" u="none" strike="noStrike">
                          <a:solidFill>
                            <a:srgbClr val="FFFFFF"/>
                          </a:solidFill>
                          <a:effectLst/>
                          <a:uFillTx/>
                          <a:latin typeface="Calibri"/>
                        </a:rPr>
                        <a:t>Lapis</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Nama Komponen Wajib</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Teknologi / Perangkat Lunak</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c>
                  <a:txBody>
                    <a:bodyPr anchor="ctr">
                      <a:noAutofit/>
                    </a:bodyPr>
                    <a:p>
                      <a:pPr defTabSz="457200">
                        <a:lnSpc>
                          <a:spcPct val="100000"/>
                        </a:lnSpc>
                      </a:pPr>
                      <a:r>
                        <a:rPr lang="en-US" sz="1150" b="1" u="none" strike="noStrike">
                          <a:solidFill>
                            <a:srgbClr val="FFFFFF"/>
                          </a:solidFill>
                          <a:effectLst/>
                          <a:uFillTx/>
                          <a:latin typeface="Calibri"/>
                        </a:rPr>
                        <a:t>Peran Fungsional dalam Pipeline Proyek Akhir</a:t>
                      </a:r>
                      <a:endParaRPr lang="en-US" sz="115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F172A"/>
                    </a:solidFill>
                  </a:tcPr>
                </a:tc>
              </a:tr>
              <a:tr h="624600">
                <a:tc>
                  <a:txBody>
                    <a:bodyPr anchor="ctr">
                      <a:noAutofit/>
                    </a:bodyPr>
                    <a:p>
                      <a:pPr defTabSz="457200">
                        <a:lnSpc>
                          <a:spcPct val="100000"/>
                        </a:lnSpc>
                      </a:pPr>
                      <a:r>
                        <a:rPr lang="en-US" sz="1100" b="1" u="none" strike="noStrike">
                          <a:solidFill>
                            <a:srgbClr val="0F172A"/>
                          </a:solidFill>
                          <a:effectLst/>
                          <a:uFillTx/>
                          <a:latin typeface="Calibri"/>
                        </a:rPr>
                        <a:t>Lapis 1</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Data Collector</a:t>
                      </a:r>
                      <a:br>
                        <a:rPr sz="1100"/>
                      </a:br>
                      <a:r>
                        <a:rPr lang="en-US" sz="1100" b="0" u="none" strike="noStrike">
                          <a:solidFill>
                            <a:srgbClr val="0F172A"/>
                          </a:solidFill>
                          <a:effectLst/>
                          <a:uFillTx/>
                          <a:latin typeface="Calibri"/>
                        </a:rPr>
                        <a:t>(Edge / Simulator)</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Script Python Simulator /</a:t>
                      </a:r>
                      <a:br>
                        <a:rPr sz="1100"/>
                      </a:br>
                      <a:r>
                        <a:rPr lang="en-US" sz="1100" b="0" u="none" strike="noStrike">
                          <a:solidFill>
                            <a:srgbClr val="0F172A"/>
                          </a:solidFill>
                          <a:effectLst/>
                          <a:uFillTx/>
                          <a:latin typeface="Calibri"/>
                        </a:rPr>
                        <a:t>Mikrokontroler ESP32 (C++)</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Membaca atau membangkitkan metrik lingkungan pertanian (suhu, kelembaban, pH, cahaya) dan mempublikasikannya via MQTT.</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624600">
                <a:tc>
                  <a:txBody>
                    <a:bodyPr anchor="ctr">
                      <a:noAutofit/>
                    </a:bodyPr>
                    <a:p>
                      <a:pPr defTabSz="457200">
                        <a:lnSpc>
                          <a:spcPct val="100000"/>
                        </a:lnSpc>
                      </a:pPr>
                      <a:r>
                        <a:rPr lang="en-US" sz="1100" b="1" u="none" strike="noStrike">
                          <a:solidFill>
                            <a:srgbClr val="0F172A"/>
                          </a:solidFill>
                          <a:effectLst/>
                          <a:uFillTx/>
                          <a:latin typeface="Calibri"/>
                        </a:rPr>
                        <a:t>Lapis 2</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Message Broker</a:t>
                      </a:r>
                      <a:br>
                        <a:rPr sz="1100"/>
                      </a:br>
                      <a:r>
                        <a:rPr lang="en-US" sz="1100" b="0" u="none" strike="noStrike">
                          <a:solidFill>
                            <a:srgbClr val="0F172A"/>
                          </a:solidFill>
                          <a:effectLst/>
                          <a:uFillTx/>
                          <a:latin typeface="Calibri"/>
                        </a:rPr>
                        <a:t>(Transport Hub)</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Eclipse Mosquitto (MQTT) /</a:t>
                      </a:r>
                      <a:br>
                        <a:rPr sz="1100"/>
                      </a:br>
                      <a:r>
                        <a:rPr lang="en-US" sz="1100" b="0" u="none" strike="noStrike">
                          <a:solidFill>
                            <a:srgbClr val="0F172A"/>
                          </a:solidFill>
                          <a:effectLst/>
                          <a:uFillTx/>
                          <a:latin typeface="Calibri"/>
                        </a:rPr>
                        <a:t>RabbitMQ (MQTT &amp; AMQP) / Valkey</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Menerima aliran paket telemetri secara real-time dengan autentikasi keamanan dan menyangga antrean pesan.</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24600">
                <a:tc>
                  <a:txBody>
                    <a:bodyPr anchor="ctr">
                      <a:noAutofit/>
                    </a:bodyPr>
                    <a:p>
                      <a:pPr defTabSz="457200">
                        <a:lnSpc>
                          <a:spcPct val="100000"/>
                        </a:lnSpc>
                      </a:pPr>
                      <a:r>
                        <a:rPr lang="en-US" sz="1100" b="1" u="none" strike="noStrike">
                          <a:solidFill>
                            <a:srgbClr val="0F172A"/>
                          </a:solidFill>
                          <a:effectLst/>
                          <a:uFillTx/>
                          <a:latin typeface="Calibri"/>
                        </a:rPr>
                        <a:t>Lapis 3</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Data Pipeline Worker</a:t>
                      </a:r>
                      <a:br>
                        <a:rPr sz="1100"/>
                      </a:br>
                      <a:r>
                        <a:rPr lang="en-US" sz="1100" b="0" u="none" strike="noStrike">
                          <a:solidFill>
                            <a:srgbClr val="0F172A"/>
                          </a:solidFill>
                          <a:effectLst/>
                          <a:uFillTx/>
                          <a:latin typeface="Calibri"/>
                        </a:rPr>
                        <a:t>(Analytics Engine)</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Python Daemon Worker</a:t>
                      </a:r>
                      <a:br>
                        <a:rPr sz="1100"/>
                      </a:br>
                      <a:r>
                        <a:rPr lang="en-US" sz="1100" b="0" u="none" strike="noStrike">
                          <a:solidFill>
                            <a:srgbClr val="0F172A"/>
                          </a:solidFill>
                          <a:effectLst/>
                          <a:uFillTx/>
                          <a:latin typeface="Calibri"/>
                        </a:rPr>
                        <a:t>(Pandas + Scikit-Learn + Deque)</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Menangkap data dari Broker, mengeksekusi Data Cleaning (NaN/Outlier) &amp; Smoothing secara kilat, serta menjalankan prediksi ML.</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624600">
                <a:tc>
                  <a:txBody>
                    <a:bodyPr anchor="ctr">
                      <a:noAutofit/>
                    </a:bodyPr>
                    <a:p>
                      <a:pPr defTabSz="457200">
                        <a:lnSpc>
                          <a:spcPct val="100000"/>
                        </a:lnSpc>
                      </a:pPr>
                      <a:r>
                        <a:rPr lang="en-US" sz="1100" b="1" u="none" strike="noStrike">
                          <a:solidFill>
                            <a:srgbClr val="0F172A"/>
                          </a:solidFill>
                          <a:effectLst/>
                          <a:uFillTx/>
                          <a:latin typeface="Calibri"/>
                        </a:rPr>
                        <a:t>Lapis 4</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Time-Series Database</a:t>
                      </a:r>
                      <a:br>
                        <a:rPr sz="1100"/>
                      </a:br>
                      <a:r>
                        <a:rPr lang="en-US" sz="1100" b="0" u="none" strike="noStrike">
                          <a:solidFill>
                            <a:srgbClr val="0F172A"/>
                          </a:solidFill>
                          <a:effectLst/>
                          <a:uFillTx/>
                          <a:latin typeface="Calibri"/>
                        </a:rPr>
                        <a:t>(Storage Engine)</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InfluxDB v2 (Rekomendasi) /</a:t>
                      </a:r>
                      <a:br>
                        <a:rPr sz="1100"/>
                      </a:br>
                      <a:r>
                        <a:rPr lang="en-US" sz="1100" b="0" u="none" strike="noStrike">
                          <a:solidFill>
                            <a:srgbClr val="0F172A"/>
                          </a:solidFill>
                          <a:effectLst/>
                          <a:uFillTx/>
                          <a:latin typeface="Calibri"/>
                        </a:rPr>
                        <a:t>TimescaleDB / MongoDB TS</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defTabSz="457200">
                        <a:lnSpc>
                          <a:spcPct val="100000"/>
                        </a:lnSpc>
                      </a:pPr>
                      <a:r>
                        <a:rPr lang="en-US" sz="1100" b="0" u="none" strike="noStrike">
                          <a:solidFill>
                            <a:srgbClr val="0F172A"/>
                          </a:solidFill>
                          <a:effectLst/>
                          <a:uFillTx/>
                          <a:latin typeface="Calibri"/>
                        </a:rPr>
                        <a:t>Menyimpan data bersih, nilai rata-rata bergerak, dan label status anomali (+1 / -1) dengan indeks waktu berkecepatan tinggi.</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24600">
                <a:tc>
                  <a:txBody>
                    <a:bodyPr anchor="ctr">
                      <a:noAutofit/>
                    </a:bodyPr>
                    <a:p>
                      <a:pPr defTabSz="457200">
                        <a:lnSpc>
                          <a:spcPct val="100000"/>
                        </a:lnSpc>
                      </a:pPr>
                      <a:r>
                        <a:rPr lang="en-US" sz="1100" b="1" u="none" strike="noStrike">
                          <a:solidFill>
                            <a:srgbClr val="0F172A"/>
                          </a:solidFill>
                          <a:effectLst/>
                          <a:uFillTx/>
                          <a:latin typeface="Calibri"/>
                        </a:rPr>
                        <a:t>Lapis 5</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Analytic Dashboard &amp;</a:t>
                      </a:r>
                      <a:br>
                        <a:rPr sz="1100"/>
                      </a:br>
                      <a:r>
                        <a:rPr lang="en-US" sz="1100" b="0" u="none" strike="noStrike">
                          <a:solidFill>
                            <a:srgbClr val="0F172A"/>
                          </a:solidFill>
                          <a:effectLst/>
                          <a:uFillTx/>
                          <a:latin typeface="Calibri"/>
                        </a:rPr>
                        <a:t>Early Warning System</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Grafana / Streamlit +</a:t>
                      </a:r>
                      <a:br>
                        <a:rPr sz="1100"/>
                      </a:br>
                      <a:r>
                        <a:rPr lang="en-US" sz="1100" b="0" u="none" strike="noStrike">
                          <a:solidFill>
                            <a:srgbClr val="0F172A"/>
                          </a:solidFill>
                          <a:effectLst/>
                          <a:uFillTx/>
                          <a:latin typeface="Calibri"/>
                        </a:rPr>
                        <a:t>Telegram Bot Webhook API</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anchor="ctr">
                      <a:noAutofit/>
                    </a:bodyPr>
                    <a:p>
                      <a:pPr defTabSz="457200">
                        <a:lnSpc>
                          <a:spcPct val="100000"/>
                        </a:lnSpc>
                      </a:pPr>
                      <a:r>
                        <a:rPr lang="en-US" sz="1100" b="0" u="none" strike="noStrike">
                          <a:solidFill>
                            <a:srgbClr val="0F172A"/>
                          </a:solidFill>
                          <a:effectLst/>
                          <a:uFillTx/>
                          <a:latin typeface="Calibri"/>
                        </a:rPr>
                        <a:t>Menampilkan grafik real-time, indikator Gauge, serta mengirim notifikasi peringatan otomatis ke Telegram saat terdeteksi anomali.</a:t>
                      </a:r>
                      <a:endParaRPr lang="en-US" sz="11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bl>
          </a:graphicData>
        </a:graphic>
      </p:graphicFrame>
      <p:sp>
        <p:nvSpPr>
          <p:cNvPr id="250" name="Rectangle 8"/>
          <p:cNvSpPr/>
          <p:nvPr/>
        </p:nvSpPr>
        <p:spPr>
          <a:xfrm>
            <a:off x="731520" y="5523120"/>
            <a:ext cx="10725480" cy="69444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1" name="TextBox 9"/>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TIMELINE PENGERJAAN PROYEK AKHIR (PEKAN 9 - 16): </a:t>
            </a:r>
            <a:r>
              <a:rPr lang="en-US" sz="1150" b="0" u="none" strike="noStrike">
                <a:solidFill>
                  <a:srgbClr val="0F172A"/>
                </a:solidFill>
                <a:effectLst/>
                <a:uFillTx/>
                <a:latin typeface="Calibri"/>
              </a:rPr>
              <a:t>Pekan 9: Penetapan Kelompok &amp; Judul Kasus | Pekan 10-11: Setup Broker &amp; DB | Pekan 12-13: Coding Worker &amp; ML | Pekan 14: Integrasi End-to-End | Pekan 15: Live Demo | Pekan 16: UAS.</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DISKUSI INTERAKTIF &amp; BERPIKIR KRITIS (HOTS)</a:t>
            </a:r>
            <a:endParaRPr lang="en-US" sz="1100" b="0" u="none" strike="noStrike">
              <a:solidFill>
                <a:srgbClr val="000000"/>
              </a:solidFill>
              <a:effectLst/>
              <a:uFillTx/>
              <a:latin typeface="Arial"/>
            </a:endParaRPr>
          </a:p>
        </p:txBody>
      </p:sp>
      <p:sp>
        <p:nvSpPr>
          <p:cNvPr id="253"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Bahan Diskusi Kelas &amp; Tantangan Analisis Engineer</a:t>
            </a:r>
            <a:endParaRPr lang="en-US" sz="2200" b="0" u="none" strike="noStrike">
              <a:solidFill>
                <a:srgbClr val="000000"/>
              </a:solidFill>
              <a:effectLst/>
              <a:uFillTx/>
              <a:latin typeface="Arial"/>
            </a:endParaRPr>
          </a:p>
        </p:txBody>
      </p:sp>
      <p:sp>
        <p:nvSpPr>
          <p:cNvPr id="254"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Menguji ketajaman penalaran sebelum mempraktikkan kode Scikit-Learn pada Pekan 10.</a:t>
            </a:r>
            <a:endParaRPr lang="en-US" sz="1300" b="0" u="none" strike="noStrike">
              <a:solidFill>
                <a:srgbClr val="000000"/>
              </a:solidFill>
              <a:effectLst/>
              <a:uFillTx/>
              <a:latin typeface="Arial"/>
            </a:endParaRPr>
          </a:p>
        </p:txBody>
      </p:sp>
      <p:sp>
        <p:nvSpPr>
          <p:cNvPr id="255"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56"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57"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16</a:t>
            </a:r>
            <a:endParaRPr lang="en-US" sz="1000" b="0" u="none" strike="noStrike">
              <a:solidFill>
                <a:srgbClr val="000000"/>
              </a:solidFill>
              <a:effectLst/>
              <a:uFillTx/>
              <a:latin typeface="Arial"/>
            </a:endParaRPr>
          </a:p>
        </p:txBody>
      </p:sp>
      <p:sp>
        <p:nvSpPr>
          <p:cNvPr id="258"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9"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DISKUSI #1: PERTANIAN TERBUKA VS PABRIK TERTUTUP</a:t>
            </a:r>
            <a:endParaRPr lang="en-US" sz="1200" b="0" u="none" strike="noStrike">
              <a:solidFill>
                <a:srgbClr val="FFFFFF"/>
              </a:solidFill>
              <a:effectLst/>
              <a:uFillTx/>
              <a:latin typeface="Arial"/>
            </a:endParaRPr>
          </a:p>
        </p:txBody>
      </p:sp>
      <p:sp>
        <p:nvSpPr>
          <p:cNvPr id="260"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Skenario Perbandingan: </a:t>
            </a:r>
            <a:r>
              <a:rPr lang="en-US" sz="1150" b="0" u="none" strike="noStrike">
                <a:solidFill>
                  <a:srgbClr val="0F172A"/>
                </a:solidFill>
                <a:effectLst/>
                <a:uFillTx/>
                <a:latin typeface="Calibri"/>
              </a:rPr>
              <a:t>Sebuah model ML dipasang di kebun cabai terbuka (Open-Field Agriculture), sementara model kedua dipasang pada robot las di dalam gedung pabrik otomotif tertutup.</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Pertanyaan Diskusi Kelas: </a:t>
            </a:r>
            <a:r>
              <a:rPr lang="en-US" sz="1150" b="0" u="none" strike="noStrike">
                <a:solidFill>
                  <a:srgbClr val="0F172A"/>
                </a:solidFill>
                <a:effectLst/>
                <a:uFillTx/>
                <a:latin typeface="Calibri"/>
              </a:rPr>
              <a:t>Mengapa model ML pada pertanian terbuka jauh lebih sulit mencapai akurasi stabil dan lebih sering mengalami Concept Drift dibandingkan di dalam pabrik manufaktur?</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Petunjuk Analisis (Hint): </a:t>
            </a:r>
            <a:r>
              <a:rPr lang="en-US" sz="1150" b="0" u="none" strike="noStrike">
                <a:solidFill>
                  <a:srgbClr val="0F172A"/>
                </a:solidFill>
                <a:effectLst/>
                <a:uFillTx/>
                <a:latin typeface="Calibri"/>
              </a:rPr>
              <a:t>Tinjau dari sisi gangguan variabel tak terkendali (cuaca ekstrem, hama, mutasi biologis tanah) vs lingkungan pabrik yang terukur deterministik.</a:t>
            </a:r>
            <a:endParaRPr lang="en-US" sz="1150" b="0" u="none" strike="noStrike">
              <a:solidFill>
                <a:srgbClr val="000000"/>
              </a:solidFill>
              <a:effectLst/>
              <a:uFillTx/>
              <a:latin typeface="Arial"/>
            </a:endParaRPr>
          </a:p>
        </p:txBody>
      </p:sp>
      <p:sp>
        <p:nvSpPr>
          <p:cNvPr id="261" name="Rectangle 10"/>
          <p:cNvSpPr/>
          <p:nvPr/>
        </p:nvSpPr>
        <p:spPr>
          <a:xfrm>
            <a:off x="6254640" y="1517760"/>
            <a:ext cx="5202720" cy="3858480"/>
          </a:xfrm>
          <a:prstGeom prst="rect">
            <a:avLst/>
          </a:prstGeom>
          <a:solidFill>
            <a:srgbClr val="EEF2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DISKUSI #2: PEMILIHAN METRIK MAE VS RMSE DI INKUBATOR</a:t>
            </a:r>
            <a:endParaRPr lang="en-US" sz="1200" b="0" u="none" strike="noStrike">
              <a:solidFill>
                <a:srgbClr val="FFFFFF"/>
              </a:solidFill>
              <a:effectLst/>
              <a:uFillTx/>
              <a:latin typeface="Arial"/>
            </a:endParaRPr>
          </a:p>
        </p:txBody>
      </p:sp>
      <p:sp>
        <p:nvSpPr>
          <p:cNvPr id="263"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Skenario Kritis: </a:t>
            </a:r>
            <a:r>
              <a:rPr lang="en-US" sz="1150" b="0" u="none" strike="noStrike">
                <a:solidFill>
                  <a:srgbClr val="0F172A"/>
                </a:solidFill>
                <a:effectLst/>
                <a:uFillTx/>
                <a:latin typeface="Calibri"/>
              </a:rPr>
              <a:t>Anda membangun model Forecasting suhu untuk mesin penetas telur otomatis. Jika suhu meleset &gt; 2.5°C selama 30 menit saja, seluruh embrio telur akan mati.</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Pertanyaan Diskusi Kelas: </a:t>
            </a:r>
            <a:r>
              <a:rPr lang="en-US" sz="1150" b="0" u="none" strike="noStrike">
                <a:solidFill>
                  <a:srgbClr val="0F172A"/>
                </a:solidFill>
                <a:effectLst/>
                <a:uFillTx/>
                <a:latin typeface="Calibri"/>
              </a:rPr>
              <a:t>Saat menyeleksi dua kandidat model AI, apakah Anda lebih mengutamakan model dengan MAE terendah atau RMSE terendah? Mengapa?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Petunjuk Analisis (Hint): </a:t>
            </a:r>
            <a:r>
              <a:rPr lang="en-US" sz="1150" b="0" u="none" strike="noStrike">
                <a:solidFill>
                  <a:srgbClr val="0F172A"/>
                </a:solidFill>
                <a:effectLst/>
                <a:uFillTx/>
                <a:latin typeface="Calibri"/>
              </a:rPr>
              <a:t>Ingat bagaimana operasi penguadratan pada rumus RMSE menghukum satu kejadian galat besar secara jauh lebih berat dibandingkan rata-rata mutlak MAE!</a:t>
            </a:r>
            <a:endParaRPr lang="en-US" sz="1150" b="0" u="none" strike="noStrike">
              <a:solidFill>
                <a:srgbClr val="000000"/>
              </a:solidFill>
              <a:effectLst/>
              <a:uFillTx/>
              <a:latin typeface="Arial"/>
            </a:endParaRPr>
          </a:p>
        </p:txBody>
      </p:sp>
      <p:sp>
        <p:nvSpPr>
          <p:cNvPr id="264"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5"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PERSIAPAN PRAKTIKUM PEKAN 10: </a:t>
            </a:r>
            <a:r>
              <a:rPr lang="en-US" sz="1150" b="0" u="none" strike="noStrike">
                <a:solidFill>
                  <a:srgbClr val="0F172A"/>
                </a:solidFill>
                <a:effectLst/>
                <a:uFillTx/>
                <a:latin typeface="Calibri"/>
              </a:rPr>
              <a:t>Pastikan lingkungan Jupyter Notebook Anda telah terpasang pustaka Scikit-Learn dan Joblib: jalankan perintah 'pip install scikit-learn joblib seaborn' sebelum pertemuan minggu depan!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TextBox 1"/>
          <p:cNvSpPr/>
          <p:nvPr/>
        </p:nvSpPr>
        <p:spPr>
          <a:xfrm>
            <a:off x="731520" y="347400"/>
            <a:ext cx="1072548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4F46E5"/>
                </a:solidFill>
                <a:effectLst/>
                <a:uFillTx/>
                <a:latin typeface="Calibri"/>
              </a:rPr>
              <a:t>ACUAN LITERATUR &amp; DOKUMENTASI RESMI</a:t>
            </a:r>
            <a:endParaRPr lang="en-US" sz="1100" b="0" u="none" strike="noStrike">
              <a:solidFill>
                <a:srgbClr val="000000"/>
              </a:solidFill>
              <a:effectLst/>
              <a:uFillTx/>
              <a:latin typeface="Arial"/>
            </a:endParaRPr>
          </a:p>
        </p:txBody>
      </p:sp>
      <p:sp>
        <p:nvSpPr>
          <p:cNvPr id="267" name="TextBox 2"/>
          <p:cNvSpPr/>
          <p:nvPr/>
        </p:nvSpPr>
        <p:spPr>
          <a:xfrm>
            <a:off x="731520" y="621720"/>
            <a:ext cx="1072548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F172A"/>
                </a:solidFill>
                <a:effectLst/>
                <a:uFillTx/>
                <a:latin typeface="Calibri"/>
              </a:rPr>
              <a:t>Referensi &amp; Acuan Materi Perkuliahan Pekan 9</a:t>
            </a:r>
            <a:endParaRPr lang="en-US" sz="2200" b="0" u="none" strike="noStrike">
              <a:solidFill>
                <a:srgbClr val="000000"/>
              </a:solidFill>
              <a:effectLst/>
              <a:uFillTx/>
              <a:latin typeface="Arial"/>
            </a:endParaRPr>
          </a:p>
        </p:txBody>
      </p:sp>
      <p:sp>
        <p:nvSpPr>
          <p:cNvPr id="268" name="TextBox 3"/>
          <p:cNvSpPr/>
          <p:nvPr/>
        </p:nvSpPr>
        <p:spPr>
          <a:xfrm>
            <a:off x="731520" y="1115640"/>
            <a:ext cx="107254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475569"/>
                </a:solidFill>
                <a:effectLst/>
                <a:uFillTx/>
                <a:latin typeface="Calibri"/>
              </a:rPr>
              <a:t>Seluruh materi pada pertemuan ini disusun merujuk pada buku teks utama dan dokumentasi teknis berikut:</a:t>
            </a:r>
            <a:endParaRPr lang="en-US" sz="1300" b="0" u="none" strike="noStrike">
              <a:solidFill>
                <a:srgbClr val="000000"/>
              </a:solidFill>
              <a:effectLst/>
              <a:uFillTx/>
              <a:latin typeface="Arial"/>
            </a:endParaRPr>
          </a:p>
        </p:txBody>
      </p:sp>
      <p:sp>
        <p:nvSpPr>
          <p:cNvPr id="269" name="Rectangle 4"/>
          <p:cNvSpPr/>
          <p:nvPr/>
        </p:nvSpPr>
        <p:spPr>
          <a:xfrm>
            <a:off x="731520" y="6309360"/>
            <a:ext cx="10725480" cy="18000"/>
          </a:xfrm>
          <a:prstGeom prst="rect">
            <a:avLst/>
          </a:prstGeom>
          <a:solidFill>
            <a:srgbClr val="CBD5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70" name="TextBox 5"/>
          <p:cNvSpPr/>
          <p:nvPr/>
        </p:nvSpPr>
        <p:spPr>
          <a:xfrm>
            <a:off x="731520" y="6355080"/>
            <a:ext cx="8777880" cy="2739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000" b="0" u="none" strike="noStrike">
                <a:solidFill>
                  <a:srgbClr val="475569"/>
                </a:solidFill>
                <a:effectLst/>
                <a:uFillTx/>
                <a:latin typeface="Calibri"/>
              </a:rPr>
              <a:t>Analisis Data untuk IoT (TRK Politani) • Pekan 9 (Pasca-UTS) • Dosen: M. Riza Nurtam, M.Kom &amp; Ega Evinda Putri</a:t>
            </a:r>
            <a:endParaRPr lang="en-US" sz="1000" b="0" u="none" strike="noStrike">
              <a:solidFill>
                <a:srgbClr val="000000"/>
              </a:solidFill>
              <a:effectLst/>
              <a:uFillTx/>
              <a:latin typeface="Arial"/>
            </a:endParaRPr>
          </a:p>
        </p:txBody>
      </p:sp>
      <p:sp>
        <p:nvSpPr>
          <p:cNvPr id="271" name="TextBox 6"/>
          <p:cNvSpPr/>
          <p:nvPr/>
        </p:nvSpPr>
        <p:spPr>
          <a:xfrm>
            <a:off x="9601200" y="6355080"/>
            <a:ext cx="1855800" cy="273960"/>
          </a:xfrm>
          <a:prstGeom prst="rect">
            <a:avLst/>
          </a:prstGeom>
          <a:noFill/>
          <a:ln w="0">
            <a:noFill/>
          </a:ln>
        </p:spPr>
        <p:style>
          <a:lnRef idx="0"/>
          <a:fillRef idx="0"/>
          <a:effectRef idx="0"/>
          <a:fontRef idx="minor"/>
        </p:style>
        <p:txBody>
          <a:bodyPr wrap="none" lIns="90000" tIns="45000" rIns="90000" bIns="45000" anchor="t" anchorCtr="1">
            <a:spAutoFit/>
          </a:bodyPr>
          <a:p>
            <a:pPr algn="r" defTabSz="457200">
              <a:lnSpc>
                <a:spcPct val="100000"/>
              </a:lnSpc>
            </a:pPr>
            <a:r>
              <a:rPr lang="en-US" sz="1000" b="1" u="none" strike="noStrike">
                <a:solidFill>
                  <a:srgbClr val="4F46E5"/>
                </a:solidFill>
                <a:effectLst/>
                <a:uFillTx/>
                <a:latin typeface="Calibri"/>
              </a:rPr>
              <a:t>Slide 17</a:t>
            </a:r>
            <a:endParaRPr lang="en-US" sz="1000" b="0" u="none" strike="noStrike">
              <a:solidFill>
                <a:srgbClr val="000000"/>
              </a:solidFill>
              <a:effectLst/>
              <a:uFillTx/>
              <a:latin typeface="Arial"/>
            </a:endParaRPr>
          </a:p>
        </p:txBody>
      </p:sp>
      <p:sp>
        <p:nvSpPr>
          <p:cNvPr id="272" name="Rectangle 7"/>
          <p:cNvSpPr/>
          <p:nvPr/>
        </p:nvSpPr>
        <p:spPr>
          <a:xfrm>
            <a:off x="73152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3" name="Rectangle 8"/>
          <p:cNvSpPr/>
          <p:nvPr/>
        </p:nvSpPr>
        <p:spPr>
          <a:xfrm>
            <a:off x="731520" y="1517760"/>
            <a:ext cx="5202720" cy="47520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1. BUKU TEKS &amp; PUBLIKASI AKADEMIK UTAMA</a:t>
            </a:r>
            <a:endParaRPr lang="en-US" sz="1200" b="0" u="none" strike="noStrike">
              <a:solidFill>
                <a:srgbClr val="FFFFFF"/>
              </a:solidFill>
              <a:effectLst/>
              <a:uFillTx/>
              <a:latin typeface="Arial"/>
            </a:endParaRPr>
          </a:p>
        </p:txBody>
      </p:sp>
      <p:sp>
        <p:nvSpPr>
          <p:cNvPr id="274" name="TextBox 9"/>
          <p:cNvSpPr/>
          <p:nvPr/>
        </p:nvSpPr>
        <p:spPr>
          <a:xfrm>
            <a:off x="89604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Minteer, A. (2017): </a:t>
            </a:r>
            <a:r>
              <a:rPr lang="en-US" sz="1150" b="0" u="none" strike="noStrike">
                <a:solidFill>
                  <a:srgbClr val="0F172A"/>
                </a:solidFill>
                <a:effectLst/>
                <a:uFillTx/>
                <a:latin typeface="Calibri"/>
              </a:rPr>
              <a:t>Analytics for the Internet of Things (IoT). Packt Publishing Ltd. (ISBN-13: 978-1787120730) — Bab 6 (Getting to Know Your Data with ML) &amp; Bab 7 (Applying ML to IoT Data).</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Fawcett, T., &amp; Provost, F. (2013): </a:t>
            </a:r>
            <a:r>
              <a:rPr lang="en-US" sz="1150" b="0" u="none" strike="noStrike">
                <a:solidFill>
                  <a:srgbClr val="0F172A"/>
                </a:solidFill>
                <a:effectLst/>
                <a:uFillTx/>
                <a:latin typeface="Calibri"/>
              </a:rPr>
              <a:t>Data Science for Business: What You Need to Know about Data Mining and Data-Analytic Thinking. O'Reilly Media. (ISBN-13: 978-1449361327) — Bab 3, Bab 4, &amp; Bab 7.</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Goodfellow, I., Bengio, Y., &amp; Courville, A. (2016): </a:t>
            </a:r>
            <a:r>
              <a:rPr lang="en-US" sz="1150" b="0" u="none" strike="noStrike">
                <a:solidFill>
                  <a:srgbClr val="0F172A"/>
                </a:solidFill>
                <a:effectLst/>
                <a:uFillTx/>
                <a:latin typeface="Calibri"/>
              </a:rPr>
              <a:t>Deep Learning. MIT Press. (ISBN-13: 978-0262035613) — Bab 5 (Machine Learning Basics: Capacity, Overfitting, &amp; Estimators).</a:t>
            </a:r>
            <a:endParaRPr lang="en-US" sz="1150" b="0" u="none" strike="noStrike">
              <a:solidFill>
                <a:srgbClr val="000000"/>
              </a:solidFill>
              <a:effectLst/>
              <a:uFillTx/>
              <a:latin typeface="Arial"/>
            </a:endParaRPr>
          </a:p>
        </p:txBody>
      </p:sp>
      <p:sp>
        <p:nvSpPr>
          <p:cNvPr id="275" name="Rectangle 10"/>
          <p:cNvSpPr/>
          <p:nvPr/>
        </p:nvSpPr>
        <p:spPr>
          <a:xfrm>
            <a:off x="6254640" y="1517760"/>
            <a:ext cx="5202720" cy="3858480"/>
          </a:xfrm>
          <a:prstGeom prst="rect">
            <a:avLst/>
          </a:prstGeom>
          <a:solidFill>
            <a:srgbClr val="F8FAFC"/>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6" name="Rectangle 11"/>
          <p:cNvSpPr/>
          <p:nvPr/>
        </p:nvSpPr>
        <p:spPr>
          <a:xfrm>
            <a:off x="6254640" y="1517760"/>
            <a:ext cx="5202720" cy="47520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200" b="1" u="none" strike="noStrike">
                <a:solidFill>
                  <a:srgbClr val="FFFFFF"/>
                </a:solidFill>
                <a:effectLst/>
                <a:uFillTx/>
                <a:latin typeface="Calibri"/>
              </a:rPr>
              <a:t>  2. DOKUMENTASI PERANGKAT LUNAK &amp; MODUL INTERNAL</a:t>
            </a:r>
            <a:endParaRPr lang="en-US" sz="1200" b="0" u="none" strike="noStrike">
              <a:solidFill>
                <a:srgbClr val="FFFFFF"/>
              </a:solidFill>
              <a:effectLst/>
              <a:uFillTx/>
              <a:latin typeface="Arial"/>
            </a:endParaRPr>
          </a:p>
        </p:txBody>
      </p:sp>
      <p:sp>
        <p:nvSpPr>
          <p:cNvPr id="277" name="TextBox 12"/>
          <p:cNvSpPr/>
          <p:nvPr/>
        </p:nvSpPr>
        <p:spPr>
          <a:xfrm>
            <a:off x="6419160" y="2084760"/>
            <a:ext cx="4873320" cy="3200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150" b="1" u="none" strike="noStrike">
                <a:solidFill>
                  <a:srgbClr val="0F172A"/>
                </a:solidFill>
                <a:effectLst/>
                <a:uFillTx/>
                <a:latin typeface="Calibri"/>
              </a:rPr>
              <a:t>• Scikit-learn Developers (2024): </a:t>
            </a:r>
            <a:r>
              <a:rPr lang="en-US" sz="1150" b="0" u="none" strike="noStrike">
                <a:solidFill>
                  <a:srgbClr val="0F172A"/>
                </a:solidFill>
                <a:effectLst/>
                <a:uFillTx/>
                <a:latin typeface="Calibri"/>
              </a:rPr>
              <a:t>Scikit-learn User Guide: Supervised Learning (Linear Models) &amp; Novelty and Outlier Detection (IsolationForest). Tersedia: https://scikit-learn.org/</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Pandas Development Team (2024): </a:t>
            </a:r>
            <a:r>
              <a:rPr lang="en-US" sz="1150" b="0" u="none" strike="noStrike">
                <a:solidFill>
                  <a:srgbClr val="0F172A"/>
                </a:solidFill>
                <a:effectLst/>
                <a:uFillTx/>
                <a:latin typeface="Calibri"/>
              </a:rPr>
              <a:t>Pandas Documentation: Time Series Shifting (.shift) &amp; Windowing. Tersedia: https://pandas.pydata.org/docs/</a:t>
            </a:r>
            <a:endParaRPr lang="en-US" sz="1150" b="0" u="none" strike="noStrike">
              <a:solidFill>
                <a:srgbClr val="000000"/>
              </a:solidFill>
              <a:effectLst/>
              <a:uFillTx/>
              <a:latin typeface="Arial"/>
            </a:endParaRPr>
          </a:p>
          <a:p>
            <a:pPr defTabSz="457200">
              <a:lnSpc>
                <a:spcPct val="100000"/>
              </a:lnSpc>
              <a:spcAft>
                <a:spcPts val="799"/>
              </a:spcAft>
            </a:pPr>
            <a:r>
              <a:rPr lang="en-US" sz="1150" b="1" u="none" strike="noStrike">
                <a:solidFill>
                  <a:srgbClr val="0F172A"/>
                </a:solidFill>
                <a:effectLst/>
                <a:uFillTx/>
                <a:latin typeface="Calibri"/>
              </a:rPr>
              <a:t>• Dokumen Repositori Mata Kuliah: </a:t>
            </a:r>
            <a:r>
              <a:rPr lang="en-US" sz="1150" b="0" u="none" strike="noStrike">
                <a:solidFill>
                  <a:srgbClr val="0F172A"/>
                </a:solidFill>
                <a:effectLst/>
                <a:uFillTx/>
                <a:latin typeface="Calibri"/>
              </a:rPr>
              <a:t>Pekan_09/Modul_Teori_Pekan_9.md, Pekan_09/Kuis_Pekan_9.md, RTM_Tugas_Besar.md, dan Referensi/Daftar_Referensi_Lengkap.md.</a:t>
            </a:r>
            <a:endParaRPr lang="en-US" sz="1150" b="0" u="none" strike="noStrike">
              <a:solidFill>
                <a:srgbClr val="000000"/>
              </a:solidFill>
              <a:effectLst/>
              <a:uFillTx/>
              <a:latin typeface="Arial"/>
            </a:endParaRPr>
          </a:p>
        </p:txBody>
      </p:sp>
      <p:sp>
        <p:nvSpPr>
          <p:cNvPr id="278" name="Rectangle 13"/>
          <p:cNvSpPr/>
          <p:nvPr/>
        </p:nvSpPr>
        <p:spPr>
          <a:xfrm>
            <a:off x="731520" y="5523120"/>
            <a:ext cx="10725480" cy="694440"/>
          </a:xfrm>
          <a:prstGeom prst="rect">
            <a:avLst/>
          </a:prstGeom>
          <a:solidFill>
            <a:srgbClr val="FEF3C7"/>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9" name="TextBox 14"/>
          <p:cNvSpPr/>
          <p:nvPr/>
        </p:nvSpPr>
        <p:spPr>
          <a:xfrm>
            <a:off x="877680" y="5586840"/>
            <a:ext cx="10432800" cy="566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1" u="none" strike="noStrike">
                <a:solidFill>
                  <a:srgbClr val="0F172A"/>
                </a:solidFill>
                <a:effectLst/>
                <a:uFillTx/>
                <a:latin typeface="Calibri"/>
              </a:rPr>
              <a:t>AGENDA SELANJUTNYA (PEKAN 10): </a:t>
            </a:r>
            <a:r>
              <a:rPr lang="en-US" sz="1150" b="0" u="none" strike="noStrike">
                <a:solidFill>
                  <a:srgbClr val="0F172A"/>
                </a:solidFill>
                <a:effectLst/>
                <a:uFillTx/>
                <a:latin typeface="Calibri"/>
              </a:rPr>
              <a:t>Praktikum Terbimbing Pemodelan Machine Learning: Implementasi koding Forecasting (Lag Features) dan deteksi anomali 2D menggunakan Isolation Forest di Jupyter Notebook!</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2026-10-22T08:55:07Z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